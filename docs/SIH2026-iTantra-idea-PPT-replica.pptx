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Garamond-regular.fntdata"/><Relationship Id="rId13" Type="http://schemas.openxmlformats.org/officeDocument/2006/relationships/font" Target="fonts/Garamond-bold.fntdata"/><Relationship Id="rId14" Type="http://schemas.openxmlformats.org/officeDocument/2006/relationships/font" Target="fonts/Garamond-italic.fntdata"/><Relationship Id="rId15" Type="http://schemas.openxmlformats.org/officeDocument/2006/relationships/font" Target="fonts/Garamond-boldItalic.fntdata"/><Relationship Id="rId16" Type="http://schemas.openxmlformats.org/officeDocument/2006/relationships/font" Target="fonts/Oswald-regular.fntdata"/><Relationship Id="rId17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youtu.be/60JDHcoK7ko?feature=shared" TargetMode="External"/><Relationship Id="rId4" Type="http://schemas.openxmlformats.org/officeDocument/2006/relationships/hyperlink" Target="https://files.eric.ed.gov/fulltext/EJ1396246.pdf" TargetMode="External"/><Relationship Id="rId5" Type="http://schemas.openxmlformats.org/officeDocument/2006/relationships/hyperlink" Target="https://opportunities-insight.britishcouncil.org/short-articles/news/india-releases-updated-higher-education-statistics" TargetMode="External"/><Relationship Id="rId6" Type="http://schemas.openxmlformats.org/officeDocument/2006/relationships/hyperlink" Target="https://files.eric.ed.gov/fulltext/EJ1396246.pdf" TargetMode="External"/><Relationship Id="rId7" Type="http://schemas.openxmlformats.org/officeDocument/2006/relationships/hyperlink" Target="https://www.edumilestones.com/best-career-guidance-platform-in-india-2020" TargetMode="External"/><Relationship Id="rId8" Type="http://schemas.openxmlformats.org/officeDocument/2006/relationships/hyperlink" Target="https://www.brookings.edu/articles/rural-schools-need-career-counselors-too/" TargetMode="External"/><Relationship Id="rId9" Type="http://schemas.openxmlformats.org/officeDocument/2006/relationships/hyperlink" Target="https://www.researchgate.net/publication/360430232_Hybrid_Recommendation_System_Based_on_Collaborative_and_Content-Based_Filtering" TargetMode="External"/><Relationship Id="rId10" Type="http://schemas.openxmlformats.org/officeDocument/2006/relationships/hyperlink" Target="https://labour.gov.in/national-career-service-0" TargetMode="External"/><Relationship Id="rId11" Type="http://schemas.openxmlformats.org/officeDocument/2006/relationships/hyperlink" Target="https://www.figma.com/design/tO3xvEpa0oJ8WJhtAa2HsK/Untitled?node-id=1-4&amp;t=ind2Zx1ddKTnXpdR-1" TargetMode="External"/><Relationship Id="rId12" Type="http://schemas.openxmlformats.org/officeDocument/2006/relationships/hyperlink" Target="https://github.com/satyam-mishra-dev/SIH-Mantrix-RAG.git" TargetMode="External"/><Relationship Id="rId13" Type="http://schemas.openxmlformats.org/officeDocument/2006/relationships/image" Target="../media/image1.png"/><Relationship Id="rId14" Type="http://schemas.openxmlformats.org/officeDocument/2006/relationships/hyperlink" Target="https://github.com/satyam-mishra-dev/itantra" TargetMode="External"/><Relationship Id="rId15" Type="http://schemas.openxmlformats.org/officeDocument/2006/relationships/hyperlink" Target="https://www.deccanherald.com/india/cyclone-amphan-telecom-networks-operating-at-65-70-capacity-in-affected-districts-says-coai-840844.html" TargetMode="External"/><Relationship Id="rId16" Type="http://schemas.openxmlformats.org/officeDocument/2006/relationships/hyperlink" Target="https://github.com/drowe67/codec2" TargetMode="External"/><Relationship Id="rId17" Type="http://schemas.openxmlformats.org/officeDocument/2006/relationships/hyperlink" Target="https://arxiv.org/abs/2201.01389" TargetMode="External"/><Relationship Id="rId18" Type="http://schemas.openxmlformats.org/officeDocument/2006/relationships/hyperlink" Target="https://doi.org/10.1109/TWC.2023.3240969" TargetMode="External"/><Relationship Id="rId19" Type="http://schemas.openxmlformats.org/officeDocument/2006/relationships/hyperlink" Target="https://www.researchgate.net/publication/394380603_Voice_over_Low_Data_Rate_Networks_Using_Speech-to-Text_and_Semantic_Compression" TargetMode="External"/><Relationship Id="rId20" Type="http://schemas.openxmlformats.org/officeDocument/2006/relationships/hyperlink" Target="https://huggingface.co/ai4bharat/indic-conformer-600m-multilingual" TargetMode="External"/><Relationship Id="rId21" Type="http://schemas.openxmlformats.org/officeDocument/2006/relationships/hyperlink" Target="https://arxiv.org/abs/2211.09536" TargetMode="External"/><Relationship Id="rId22" Type="http://schemas.openxmlformats.org/officeDocument/2006/relationships/hyperlink" Target="https://arxiv.org/abs/2203.16601" TargetMode="External"/><Relationship Id="rId23" Type="http://schemas.openxmlformats.org/officeDocument/2006/relationships/hyperlink" Target="https://pmc.ncbi.nlm.nih.gov/articles/PMC11424238/" TargetMode="External"/><Relationship Id="rId24" Type="http://schemas.openxmlformats.org/officeDocument/2006/relationships/hyperlink" Target="https://www.ensembletech.in/lora-frequency-bands-india/" TargetMode="External"/><Relationship Id="rId2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94311" y="1715868"/>
            <a:ext cx="7194108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b="0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SIH26173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</a:t>
            </a:r>
            <a:r>
              <a:rPr b="0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iTantra – Indian Multilingual TTS &amp; STT Aided Neural Transceiver Radio Access for low bitrate links</a:t>
            </a:r>
            <a:endParaRPr>
              <a:highlight>
                <a:schemeClr val="lt1"/>
              </a:highlight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b="0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Disaster Management</a:t>
            </a:r>
            <a:endParaRPr sz="24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b="0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 </a:t>
            </a:r>
            <a:r>
              <a:rPr b="0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______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Name- </a:t>
            </a:r>
            <a:r>
              <a:rPr b="0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 Pointers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97" name="Picture 96" descr="sih2026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349" y="-49965"/>
            <a:ext cx="2378237" cy="1122868"/>
          </a:xfrm>
          <a:prstGeom prst="rect">
            <a:avLst/>
          </a:prstGeom>
        </p:spPr>
      </p:pic>
      <p:sp>
        <p:nvSpPr>
          <p:cNvPr descr="Your startup LOGO" id="95" name="Google Shape;95;p13"/>
          <p:cNvSpPr/>
          <p:nvPr/>
        </p:nvSpPr>
        <p:spPr>
          <a:xfrm>
            <a:off x="88450" y="57100"/>
            <a:ext cx="13284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Pointers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Picture 97" descr="sih2026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349" y="-49965"/>
            <a:ext cx="2378237" cy="11228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88450" y="1397725"/>
            <a:ext cx="5440680" cy="178308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 Challenges in a Disaster: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Towers Die First:</a:t>
            </a:r>
            <a:r>
              <a:rPr b="0" lang="en-US">
                <a:solidFill>
                  <a:schemeClr val="dk1"/>
                </a:solidFill>
              </a:rPr>
              <a:t> Cyclone Amphan downed ~7,000 of 14,167 WB cell sites; networks ran at 65–70% for days.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Text Alerts Miss the Vulnerable:</a:t>
            </a:r>
            <a:r>
              <a:rPr b="0" lang="en-US">
                <a:solidFill>
                  <a:schemeClr val="dk1"/>
                </a:solidFill>
              </a:rPr>
              <a:t> rural literacy 73%, rural women ~51% — silent SMS under-reaches the exposed.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Language Exclusion:</a:t>
            </a:r>
            <a:r>
              <a:rPr b="0" lang="en-US">
                <a:solidFill>
                  <a:schemeClr val="dk1"/>
                </a:solidFill>
              </a:rPr>
              <a:t> ~90% of rural India speaks only its mother tongue, across 22 languages.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Voice Is Too Heavy for Weak Links:</a:t>
            </a:r>
            <a:r>
              <a:rPr b="0" lang="en-US">
                <a:solidFill>
                  <a:schemeClr val="dk1"/>
                </a:solidFill>
              </a:rPr>
              <a:t> raw voice is 64 kbps; even NATO's MELPe codec needs 600 bps.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182998" y="-4174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8450" y="910575"/>
            <a:ext cx="11720700" cy="55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iTantra, our offline semantic transceiver,</a:t>
            </a:r>
            <a:r>
              <a:rPr b="0" lang="en-US" sz="1500">
                <a:solidFill>
                  <a:schemeClr val="dk1"/>
                </a:solidFill>
              </a:rPr>
              <a:t> turns any Android phone into a 10-language walkie-talkie: speech becomes ~45-byte text, crosses any surviving link — Wi-Fi, Bluetooth, LoRa, even an analog radio — and is spoken again at the far end.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8813200" y="6721478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5" name="Picture 114" descr="sih2026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2349" y="-49965"/>
            <a:ext cx="2378237" cy="1122868"/>
          </a:xfrm>
          <a:prstGeom prst="rect">
            <a:avLst/>
          </a:prstGeom>
        </p:spPr>
      </p:pic>
      <p:sp>
        <p:nvSpPr>
          <p:cNvPr descr="Your startup LOGO" id="107" name="Google Shape;107;p14"/>
          <p:cNvSpPr/>
          <p:nvPr/>
        </p:nvSpPr>
        <p:spPr>
          <a:xfrm>
            <a:off x="88450" y="57100"/>
            <a:ext cx="13284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Pointers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8450" y="3611880"/>
            <a:ext cx="9473100" cy="4107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How iTantra Provides Solutions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On-device STT:</a:t>
            </a:r>
            <a:r>
              <a:rPr b="0" lang="en-US">
                <a:solidFill>
                  <a:schemeClr val="dk1"/>
                </a:solidFill>
              </a:rPr>
              <a:t> IndicConformer int8 (MIT) ×9 + English; Silero VAD streams sentences mid-hold; fully offline.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VarnaCode:</a:t>
            </a:r>
            <a:r>
              <a:rPr b="0" lang="en-US">
                <a:solidFill>
                  <a:schemeClr val="dk1"/>
                </a:solidFill>
              </a:rPr>
              <a:t> Indic text at 4.45–5.41 bits/char (measured) — a sentence in ~45 bytes, one LoRa frame.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Natural Voice Out:</a:t>
            </a:r>
            <a:r>
              <a:rPr b="0" lang="en-US">
                <a:solidFill>
                  <a:schemeClr val="dk1"/>
                </a:solidFill>
              </a:rPr>
              <a:t> AI4Bharat FastPitch + Piper TTS (MIT), sentence-streamed; eSpeak-NG fallback.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Alert Mode:</a:t>
            </a:r>
            <a:r>
              <a:rPr b="0" lang="en-US">
                <a:solidFill>
                  <a:schemeClr val="dk1"/>
                </a:solidFill>
              </a:rPr>
              <a:t> priority frames auto-play at max volume, non-interruptible, with a place-name lexicon.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Any Bearer:</a:t>
            </a:r>
            <a:r>
              <a:rPr b="0" lang="en-US">
                <a:solidFill>
                  <a:schemeClr val="dk1"/>
                </a:solidFill>
              </a:rPr>
              <a:t> Wi-Fi (NSD+TCP) · Bluetooth RFCOMM · ₹1,650 ESP32 LoRa · AFSK through any analog radio.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Prosody Byte:</a:t>
            </a:r>
            <a:r>
              <a:rPr b="0" lang="en-US">
                <a:solidFill>
                  <a:schemeClr val="dk1"/>
                </a:solidFill>
              </a:rPr>
              <a:t> 1 byte of urgency — panic is spoken fast, loud and twice at the far end.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Evaluation Mode:</a:t>
            </a:r>
            <a:r>
              <a:rPr b="0" lang="en-US">
                <a:solidFill>
                  <a:schemeClr val="dk1"/>
                </a:solidFill>
              </a:rPr>
              <a:t> the app measures its own CER, RTF and latency on stage — real-speech Hindi CER 2.9%.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1" name="Google Shape;111;p1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4" name="Picture 113" descr="mind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417320"/>
            <a:ext cx="6400800" cy="2192054"/>
          </a:xfrm>
          <a:prstGeom prst="rect">
            <a:avLst/>
          </a:prstGeom>
        </p:spPr>
      </p:pic>
      <p:sp>
        <p:nvSpPr>
          <p:cNvPr id="113" name="Google Shape;113;p14"/>
          <p:cNvSpPr txBox="1"/>
          <p:nvPr/>
        </p:nvSpPr>
        <p:spPr>
          <a:xfrm>
            <a:off x="9561550" y="3835113"/>
            <a:ext cx="2729400" cy="249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USP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Text Is the Codec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VarnaCode Compression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Voice via Any Radio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Live Evaluation Mode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Offline &amp; Open-Source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>
            <p:ph type="title"/>
          </p:nvPr>
        </p:nvSpPr>
        <p:spPr>
          <a:xfrm>
            <a:off x="609600" y="-2786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2" name="Google Shape;122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0" name="Picture 129" descr="sih2026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2349" y="-49965"/>
            <a:ext cx="2378237" cy="1122868"/>
          </a:xfrm>
          <a:prstGeom prst="rect">
            <a:avLst/>
          </a:prstGeom>
        </p:spPr>
      </p:pic>
      <p:sp>
        <p:nvSpPr>
          <p:cNvPr id="124" name="Google Shape;124;p15"/>
          <p:cNvSpPr txBox="1"/>
          <p:nvPr/>
        </p:nvSpPr>
        <p:spPr>
          <a:xfrm>
            <a:off x="214800" y="864400"/>
            <a:ext cx="6186000" cy="5367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Semantic Transceiver Pipeline:</a:t>
            </a:r>
            <a:r>
              <a:rPr b="0" lang="en-US">
                <a:solidFill>
                  <a:schemeClr val="dk1"/>
                </a:solidFill>
              </a:rPr>
              <a:t> Mic → Silero VAD → IndicConformer STT → VarnaCode → 45-byte frame → any bearer → VarnaCode⁻¹ → FastPitch / Piper TTS, on one sherpa-onnx runtime.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Native Kotlin App:</a:t>
            </a:r>
            <a:r>
              <a:rPr b="0" lang="en-US">
                <a:solidFill>
                  <a:schemeClr val="dk1"/>
                </a:solidFill>
              </a:rPr>
              <a:t> foreground service + audio focus (Android 14+), Oboe 16 kHz capture, 54 MB APK with the full speech runtime; ~200 MB language packs.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VarnaCode + Frame Protocol:</a:t>
            </a:r>
            <a:r>
              <a:rPr b="0" lang="en-US">
                <a:solidFill>
                  <a:schemeClr val="dk1"/>
                </a:solidFill>
              </a:rPr>
              <a:t> corpus-trained Indic Huffman coder; frames carry lang · priority · seq · CRC-16, optional AES-128-GCM and a prosody byte; Kotlin ↔ Python ↔ C byte-identical.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Pluggable Bearers:</a:t>
            </a:r>
            <a:r>
              <a:rPr b="0" lang="en-US">
                <a:solidFill>
                  <a:schemeClr val="dk1"/>
                </a:solidFill>
              </a:rPr>
              <a:t> NSD + TCP over hotspot, Bluetooth RFCOMM, ESP32-LoRa bridge (IN865, 1% duty guard) and a Bell-202 AFSK modem for analog radios.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Measured, Not Estimated:</a:t>
            </a:r>
            <a:r>
              <a:rPr b="0" lang="en-US">
                <a:solidFill>
                  <a:schemeClr val="dk1"/>
                </a:solidFill>
              </a:rPr>
              <a:t> real-speech CER hi 2.9% / bn 4.0% / te 7.8%, RTF 0.06; int8 packs 140 MB; 222 protocol assertions; two-phone loop proven.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Open-Source &amp; Offline:</a:t>
            </a:r>
            <a:r>
              <a:rPr b="0" lang="en-US">
                <a:solidFill>
                  <a:schemeClr val="dk1"/>
                </a:solidFill>
              </a:rPr>
              <a:t> MIT/Apache Bhashini-lineage models, zero network calls; proprietary SDKs and NC-licensed models excluded.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descr="Your startup LOGO" id="125" name="Google Shape;125;p15"/>
          <p:cNvSpPr/>
          <p:nvPr/>
        </p:nvSpPr>
        <p:spPr>
          <a:xfrm>
            <a:off x="88450" y="57100"/>
            <a:ext cx="13284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Pointers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Picture 127" descr="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864400"/>
            <a:ext cx="5663624" cy="3237699"/>
          </a:xfrm>
          <a:prstGeom prst="rect">
            <a:avLst/>
          </a:prstGeom>
        </p:spPr>
      </p:pic>
      <p:pic>
        <p:nvPicPr>
          <p:cNvPr id="129" name="Picture 128" descr="techsta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200" y="4016912"/>
            <a:ext cx="5582373" cy="19928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>
            <p:ph type="title"/>
          </p:nvPr>
        </p:nvSpPr>
        <p:spPr>
          <a:xfrm>
            <a:off x="307847" y="-20556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</a:t>
            </a: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SIBILITY</a:t>
            </a: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 AND VIABILITY</a:t>
            </a:r>
            <a:endParaRPr/>
          </a:p>
        </p:txBody>
      </p:sp>
      <p:sp>
        <p:nvSpPr>
          <p:cNvPr id="135" name="Google Shape;135;p16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6" name="Google Shape;136;p16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141975" y="967900"/>
            <a:ext cx="7859400" cy="5356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buClr>
                <a:schemeClr val="dk1"/>
              </a:buClr>
              <a:buSzPts val="1400"/>
              <a:buAutoNum type="arabicPeriod" startAt="1"/>
            </a:pPr>
            <a:r>
              <a:rPr b="1" lang="en-US" sz="1250">
                <a:solidFill>
                  <a:schemeClr val="dk1"/>
                </a:solidFill>
              </a:rPr>
              <a:t>Tech Feasibility : On-Device Speed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-US" sz="1250">
                <a:solidFill>
                  <a:schemeClr val="dk1"/>
                </a:solidFill>
              </a:rPr>
              <a:t>Problem: </a:t>
            </a:r>
            <a:r>
              <a:rPr b="0" lang="en-US" sz="1250">
                <a:solidFill>
                  <a:schemeClr val="dk1"/>
                </a:solidFill>
              </a:rPr>
              <a:t>budget phones may run slower than our desktop numbers.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buSzPts val="1400"/>
              <a:buFont typeface="Calibri"/>
              <a:buChar char="●"/>
            </a:pPr>
            <a:r>
              <a:rPr b="1" lang="en-US" sz="1250">
                <a:solidFill>
                  <a:schemeClr val="dk1"/>
                </a:solidFill>
              </a:rPr>
              <a:t>Approach: </a:t>
            </a:r>
            <a:r>
              <a:rPr b="0" lang="en-US" sz="1250">
                <a:solidFill>
                  <a:schemeClr val="dk1"/>
                </a:solidFill>
              </a:rPr>
              <a:t>int8 models (measured RTF 0.06) + streaming decode; Conformers already run RTF 0.19 on wearables.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1000"/>
              </a:spcBef>
              <a:buClr>
                <a:schemeClr val="dk1"/>
              </a:buClr>
              <a:buSzPts val="1400"/>
              <a:buAutoNum type="arabicPeriod" startAt="2"/>
            </a:pPr>
            <a:r>
              <a:rPr b="1" lang="en-US" sz="1250">
                <a:solidFill>
                  <a:schemeClr val="dk1"/>
                </a:solidFill>
              </a:rPr>
              <a:t>Operational Feasibility: Model Availability</a:t>
            </a:r>
            <a:endParaRPr b="1"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-US" sz="1250">
                <a:solidFill>
                  <a:schemeClr val="dk1"/>
                </a:solidFill>
              </a:rPr>
              <a:t>Problem: </a:t>
            </a:r>
            <a:r>
              <a:rPr b="0" lang="en-US" sz="1250">
                <a:solidFill>
                  <a:schemeClr val="dk1"/>
                </a:solidFill>
              </a:rPr>
              <a:t>community ONNX conversions of IndicConformer are unofficial.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buSzPts val="1400"/>
              <a:buFont typeface="Calibri"/>
              <a:buChar char="●"/>
            </a:pPr>
            <a:r>
              <a:rPr b="1" lang="en-US" sz="1250">
                <a:solidFill>
                  <a:schemeClr val="dk1"/>
                </a:solidFill>
              </a:rPr>
              <a:t>Approach: </a:t>
            </a:r>
            <a:r>
              <a:rPr b="0" lang="en-US" sz="1250">
                <a:solidFill>
                  <a:schemeClr val="dk1"/>
                </a:solidFill>
              </a:rPr>
              <a:t>our converter fixes 12 languages' ONNX metadata; fallback = AI4Bharat's official int8 export.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1000"/>
              </a:spcBef>
              <a:buClr>
                <a:schemeClr val="dk1"/>
              </a:buClr>
              <a:buSzPts val="1400"/>
              <a:buAutoNum type="arabicPeriod" startAt="3"/>
            </a:pPr>
            <a:r>
              <a:rPr b="1" lang="en-US" sz="1250">
                <a:solidFill>
                  <a:schemeClr val="dk1"/>
                </a:solidFill>
              </a:rPr>
              <a:t>Market (Demand &amp; Adoption)</a:t>
            </a:r>
            <a:endParaRPr b="1"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-US" sz="1250">
                <a:solidFill>
                  <a:schemeClr val="dk1"/>
                </a:solidFill>
              </a:rPr>
              <a:t>Problem: </a:t>
            </a:r>
            <a:r>
              <a:rPr b="0" lang="en-US" sz="1250">
                <a:solidFill>
                  <a:schemeClr val="dk1"/>
                </a:solidFill>
              </a:rPr>
              <a:t>hardware walkie-talkies cost ₹8,000–25,000 and speak one language.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buSzPts val="1400"/>
              <a:buFont typeface="Calibri"/>
              <a:buChar char="●"/>
            </a:pPr>
            <a:r>
              <a:rPr b="1" lang="en-US" sz="1250">
                <a:solidFill>
                  <a:schemeClr val="dk1"/>
                </a:solidFill>
              </a:rPr>
              <a:t>Approach: </a:t>
            </a:r>
            <a:r>
              <a:rPr b="0" lang="en-US" sz="1250">
                <a:solidFill>
                  <a:schemeClr val="dk1"/>
                </a:solidFill>
              </a:rPr>
              <a:t>phones people already own + a ₹1,650 LoRa node; pilot with a coastal district committee.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1000"/>
              </a:spcBef>
              <a:buClr>
                <a:schemeClr val="dk1"/>
              </a:buClr>
              <a:buSzPts val="1400"/>
              <a:buAutoNum type="arabicPeriod" startAt="4"/>
            </a:pPr>
            <a:r>
              <a:rPr b="1" lang="en-US" sz="1250">
                <a:solidFill>
                  <a:schemeClr val="dk1"/>
                </a:solidFill>
              </a:rPr>
              <a:t>Financial (Cost vs Revenue)</a:t>
            </a:r>
            <a:endParaRPr b="1"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-US" sz="1250">
                <a:solidFill>
                  <a:schemeClr val="dk1"/>
                </a:solidFill>
              </a:rPr>
              <a:t>Problem: </a:t>
            </a:r>
            <a:r>
              <a:rPr b="0" lang="en-US" sz="1250">
                <a:solidFill>
                  <a:schemeClr val="dk1"/>
                </a:solidFill>
              </a:rPr>
              <a:t>free tools die when funding dries up.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buSzPts val="1400"/>
              <a:buFont typeface="Calibri"/>
              <a:buChar char="●"/>
            </a:pPr>
            <a:r>
              <a:rPr b="1" lang="en-US" sz="1250">
                <a:solidFill>
                  <a:schemeClr val="dk1"/>
                </a:solidFill>
              </a:rPr>
              <a:t>Approach: </a:t>
            </a:r>
            <a:r>
              <a:rPr b="0" lang="en-US" sz="1250">
                <a:solidFill>
                  <a:schemeClr val="dk1"/>
                </a:solidFill>
              </a:rPr>
              <a:t>zero recurring cost (no SIM, server, licence); NDMA/SDMA procurement; open-source self-hosting.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1000"/>
              </a:spcBef>
              <a:buClr>
                <a:schemeClr val="dk1"/>
              </a:buClr>
              <a:buSzPts val="1400"/>
              <a:buAutoNum type="arabicPeriod" startAt="5"/>
            </a:pPr>
            <a:r>
              <a:rPr b="1" lang="en-US" sz="1250">
                <a:solidFill>
                  <a:schemeClr val="dk1"/>
                </a:solidFill>
              </a:rPr>
              <a:t>Growth and Potential</a:t>
            </a:r>
            <a:endParaRPr b="1"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-US" sz="1250">
                <a:solidFill>
                  <a:schemeClr val="dk1"/>
                </a:solidFill>
              </a:rPr>
              <a:t>Problem: </a:t>
            </a:r>
            <a:r>
              <a:rPr b="0" lang="en-US" sz="1250">
                <a:solidFill>
                  <a:schemeClr val="dk1"/>
                </a:solidFill>
              </a:rPr>
              <a:t>22 languages and many bearers to cover.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buSzPts val="1400"/>
              <a:buFont typeface="Calibri"/>
              <a:buChar char="●"/>
            </a:pPr>
            <a:r>
              <a:rPr b="1" lang="en-US" sz="1250">
                <a:solidFill>
                  <a:schemeClr val="dk1"/>
                </a:solidFill>
              </a:rPr>
              <a:t>Approach: </a:t>
            </a:r>
            <a:r>
              <a:rPr b="0" lang="en-US" sz="1250">
                <a:solidFill>
                  <a:schemeClr val="dk1"/>
                </a:solidFill>
              </a:rPr>
              <a:t>one model family covers all 22; frames ride any bearer — Bluetooth today, GSAT tomorrow.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1000"/>
              </a:spcBef>
              <a:buClr>
                <a:schemeClr val="dk1"/>
              </a:buClr>
              <a:buSzPts val="1400"/>
              <a:buAutoNum type="arabicPeriod" startAt="6"/>
            </a:pPr>
            <a:r>
              <a:rPr b="1" lang="en-US" sz="1250">
                <a:solidFill>
                  <a:schemeClr val="dk1"/>
                </a:solidFill>
              </a:rPr>
              <a:t>Bridging the Trust Gap</a:t>
            </a:r>
            <a:endParaRPr b="1" sz="1100"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-US" sz="1250">
                <a:solidFill>
                  <a:schemeClr val="dk1"/>
                </a:solidFill>
              </a:rPr>
              <a:t>Problem: </a:t>
            </a:r>
            <a:r>
              <a:rPr b="0" lang="en-US" sz="1250">
                <a:solidFill>
                  <a:schemeClr val="dk1"/>
                </a:solidFill>
              </a:rPr>
              <a:t>a mis-recognition could become spoken misinformation.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spcBef>
                <a:spcPts val="0"/>
              </a:spcBef>
              <a:buSzPts val="1400"/>
              <a:buFont typeface="Calibri"/>
              <a:buChar char="●"/>
            </a:pPr>
            <a:r>
              <a:rPr b="1" lang="en-US" sz="1250">
                <a:solidFill>
                  <a:schemeClr val="dk1"/>
                </a:solidFill>
              </a:rPr>
              <a:t>Approach: </a:t>
            </a:r>
            <a:r>
              <a:rPr b="0" lang="en-US" sz="1250">
                <a:solidFill>
                  <a:schemeClr val="dk1"/>
                </a:solidFill>
              </a:rPr>
              <a:t>confidence gate, transcript on both screens, alert pronunciation lexicon, encrypted frames.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Picture 143" descr="sih2026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2349" y="-49965"/>
            <a:ext cx="2378237" cy="1122868"/>
          </a:xfrm>
          <a:prstGeom prst="rect">
            <a:avLst/>
          </a:prstGeom>
        </p:spPr>
      </p:pic>
      <p:sp>
        <p:nvSpPr>
          <p:cNvPr id="139" name="Google Shape;139;p16"/>
          <p:cNvSpPr txBox="1"/>
          <p:nvPr/>
        </p:nvSpPr>
        <p:spPr>
          <a:xfrm>
            <a:off x="8178850" y="967900"/>
            <a:ext cx="3815700" cy="535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Picture 142" descr="feasibil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375" y="4047175"/>
            <a:ext cx="3460650" cy="2086551"/>
          </a:xfrm>
          <a:prstGeom prst="rect">
            <a:avLst/>
          </a:prstGeom>
        </p:spPr>
      </p:pic>
      <p:sp>
        <p:nvSpPr>
          <p:cNvPr descr="Your startup LOGO" id="141" name="Google Shape;141;p16"/>
          <p:cNvSpPr/>
          <p:nvPr/>
        </p:nvSpPr>
        <p:spPr>
          <a:xfrm>
            <a:off x="88450" y="57100"/>
            <a:ext cx="13284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Pointers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Picture 141" descr="proje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375" y="1207575"/>
            <a:ext cx="3460648" cy="2357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>
            <p:ph type="title"/>
          </p:nvPr>
        </p:nvSpPr>
        <p:spPr>
          <a:xfrm>
            <a:off x="869615" y="-19746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17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395850" y="945525"/>
            <a:ext cx="6756600" cy="247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/>
              <a:t>Potential Impacts</a:t>
            </a:r>
            <a:endParaRPr b="1" sz="19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Last-Mile Inclusion</a:t>
            </a:r>
            <a:r>
              <a:rPr b="0" lang="en-US"/>
              <a:t>: voice-native two-way comms reach the ~50% of rural women and 1-in-4 rural Indians whom text alerts miss — in their own language.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Completes ISRO's Disaster Stack</a:t>
            </a:r>
            <a:r>
              <a:rPr b="0" lang="en-US"/>
              <a:t>: the multilingual voice layer for GSAT mobile-radio and VSAT–SDMA low-bitrate links.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Two-Way Beats Broadcast</a:t>
            </a:r>
            <a:r>
              <a:rPr b="0" lang="en-US"/>
              <a:t>: Kerala 2018 — 40+ ham operators aided 2,000+ people when towers died; iTantra puts that on every phone.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Research → Reality</a:t>
            </a:r>
            <a:r>
              <a:rPr b="0" lang="en-US"/>
              <a:t>: a deployable Indian instance of 6G semantic communication — transmit the meaning, not the bits.</a:t>
            </a:r>
            <a:endParaRPr/>
          </a:p>
        </p:txBody>
      </p:sp>
      <p:pic>
        <p:nvPicPr>
          <p:cNvPr id="161" name="Picture 160" descr="sih2026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1945" y="-45720"/>
            <a:ext cx="2382143" cy="1124712"/>
          </a:xfrm>
          <a:prstGeom prst="rect">
            <a:avLst/>
          </a:prstGeom>
        </p:spPr>
      </p:pic>
      <p:pic>
        <p:nvPicPr>
          <p:cNvPr id="159" name="Picture 158" descr="pi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275" y="945525"/>
            <a:ext cx="4585075" cy="2242750"/>
          </a:xfrm>
          <a:prstGeom prst="rect">
            <a:avLst/>
          </a:prstGeom>
        </p:spPr>
      </p:pic>
      <p:sp>
        <p:nvSpPr>
          <p:cNvPr id="155" name="Google Shape;155;p17"/>
          <p:cNvSpPr txBox="1"/>
          <p:nvPr/>
        </p:nvSpPr>
        <p:spPr>
          <a:xfrm>
            <a:off x="6647575" y="1224300"/>
            <a:ext cx="28800" cy="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6" name="Google Shape;156;p17"/>
          <p:cNvSpPr/>
          <p:nvPr/>
        </p:nvSpPr>
        <p:spPr>
          <a:xfrm>
            <a:off x="88450" y="57100"/>
            <a:ext cx="13284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Pointers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Picture 159" descr="by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50" y="3553875"/>
            <a:ext cx="4439626" cy="2672151"/>
          </a:xfrm>
          <a:prstGeom prst="rect">
            <a:avLst/>
          </a:prstGeom>
        </p:spPr>
      </p:pic>
      <p:sp>
        <p:nvSpPr>
          <p:cNvPr id="158" name="Google Shape;158;p17"/>
          <p:cNvSpPr txBox="1"/>
          <p:nvPr/>
        </p:nvSpPr>
        <p:spPr>
          <a:xfrm>
            <a:off x="5136075" y="3650950"/>
            <a:ext cx="6642900" cy="2575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Benefits</a:t>
            </a:r>
            <a:endParaRPr b="1" sz="17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Literacy-Independent:</a:t>
            </a:r>
            <a:r>
              <a:rPr b="0" lang="en-US">
                <a:solidFill>
                  <a:schemeClr val="dk1"/>
                </a:solidFill>
              </a:rPr>
              <a:t> 10 languages ≈ 85% of India; voice serves the visually impaired, transcript serves the hearing impaired.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Zero Recurring Cost:</a:t>
            </a:r>
            <a:r>
              <a:rPr b="0" lang="en-US">
                <a:solidFill>
                  <a:schemeClr val="dk1"/>
                </a:solidFill>
              </a:rPr>
              <a:t> no SIM, data plan or server; open-source, procurement-friendly for states and NGOs.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Sovereign Stack:</a:t>
            </a:r>
            <a:r>
              <a:rPr b="0" lang="en-US">
                <a:solidFill>
                  <a:schemeClr val="dk1"/>
                </a:solidFill>
              </a:rPr>
              <a:t> Indian models (Bhashini / AI4Bharat), Indian band plan (IN865), no foreign cloud.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Resilient:</a:t>
            </a:r>
            <a:r>
              <a:rPr b="0" lang="en-US">
                <a:solidFill>
                  <a:schemeClr val="dk1"/>
                </a:solidFill>
              </a:rPr>
              <a:t> int8-efficient; LoRa nodes run days on a power bank — deployable on solar in a total blackout.</a:t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66" name="Google Shape;166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7" name="Google Shape;167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698450" y="1095375"/>
            <a:ext cx="9222900" cy="4815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Repository : 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Kotlin app + ESP32 firmware + evaluation harness (private; jury access on submission). 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LINK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Cyclone Amphan Outage: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~7,000 of 14,167 WB towers down; networks at 65–70% capacity for days (COAI).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LINK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Bitrate Math: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MELPe 600 bps (NATO STANAG 4591) and Codec2 450 bps vs speech-as-text ≈ 107 bps.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LINK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 Communications Survey: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Qin, Tao, Lu, Tong &amp; Li, 2021 — transmit meaning, not bits.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LINK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DeepSC-ST: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speech transceiver transmitting recognition-domain features, IEEE Trans. Wireless Comm. 2023.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8"/>
              </a:rPr>
              <a:t>LINK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STT over Low-Data-Rate Links: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up to 94% latency reduction vs compressed audio (2025).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LINK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IndicConformer (AI4Bharat):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MIT, all 22 Indian languages, official int8 ONNX; Hindi WER 13.2 (Vaani).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0"/>
              </a:rPr>
              <a:t>LINK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AI4Bharat Indic-TTS: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FastPitch + HiFi-GAN, MIT, 13 Indic languages.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1"/>
              </a:rPr>
              <a:t>LINK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CER, not WER, for Indic ASR: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WER disproportionately punishes agglutinative languages.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2"/>
              </a:rPr>
              <a:t>LINK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 Message-Length Study (2024):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360-char alerts no better than 90-char — validates the 45-byte design.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3"/>
              </a:rPr>
              <a:t>LINK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IN865 LoRa Legality: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865–867 MHz licence-free, 1% duty, 30 dBm — km-range at ₹1,650/node.</a:t>
            </a: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4"/>
              </a:rPr>
              <a:t>LINK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Picture 170" descr="sih2026-logo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52349" y="-49965"/>
            <a:ext cx="2378237" cy="1122868"/>
          </a:xfrm>
          <a:prstGeom prst="rect">
            <a:avLst/>
          </a:prstGeom>
        </p:spPr>
      </p:pic>
      <p:sp>
        <p:nvSpPr>
          <p:cNvPr descr="Your startup LOGO" id="170" name="Google Shape;170;p18"/>
          <p:cNvSpPr/>
          <p:nvPr/>
        </p:nvSpPr>
        <p:spPr>
          <a:xfrm>
            <a:off x="88450" y="57100"/>
            <a:ext cx="1328400" cy="8073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Pointers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