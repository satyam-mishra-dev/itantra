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deccanherald.com/india/cyclone-amphan-telecom-networks-operating-at-65-70-capacity-in-affected-districts-says-coai-840844.html" TargetMode="External"/><Relationship Id="rId5" Type="http://schemas.openxmlformats.org/officeDocument/2006/relationships/hyperlink" Target="https://github.com/drowe67/codec2" TargetMode="External"/><Relationship Id="rId6" Type="http://schemas.openxmlformats.org/officeDocument/2006/relationships/hyperlink" Target="https://arxiv.org/abs/2201.01389" TargetMode="External"/><Relationship Id="rId7" Type="http://schemas.openxmlformats.org/officeDocument/2006/relationships/hyperlink" Target="https://doi.org/10.1109/TWC.2023.3240969" TargetMode="External"/><Relationship Id="rId8" Type="http://schemas.openxmlformats.org/officeDocument/2006/relationships/hyperlink" Target="https://www.researchgate.net/publication/394380603_Voice_over_Low_Data_Rate_Networks_Using_Speech-to-Text_and_Semantic_Compression" TargetMode="External"/><Relationship Id="rId9" Type="http://schemas.openxmlformats.org/officeDocument/2006/relationships/hyperlink" Target="https://huggingface.co/ai4bharat/indic-conformer-600m-multilingual" TargetMode="External"/><Relationship Id="rId10" Type="http://schemas.openxmlformats.org/officeDocument/2006/relationships/hyperlink" Target="https://arxiv.org/abs/2211.09536" TargetMode="External"/><Relationship Id="rId11" Type="http://schemas.openxmlformats.org/officeDocument/2006/relationships/hyperlink" Target="https://arxiv.org/abs/2203.16601" TargetMode="External"/><Relationship Id="rId12" Type="http://schemas.openxmlformats.org/officeDocument/2006/relationships/hyperlink" Target="https://en.wikipedia.org/wiki/J-Alert" TargetMode="External"/><Relationship Id="rId13" Type="http://schemas.openxmlformats.org/officeDocument/2006/relationships/hyperlink" Target="https://www.ensembletech.in/lora-frequency-bands-indi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230368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1">
                <a:solidFill>
                  <a:srgbClr val="262626"/>
                </a:solidFill>
                <a:latin typeface="Arial"/>
              </a:rPr>
              <a:t>Problem Statement ID – </a:t>
            </a:r>
            <a:r>
              <a:rPr sz="2100" b="0">
                <a:solidFill>
                  <a:srgbClr val="262626"/>
                </a:solidFill>
                <a:latin typeface="Arial"/>
              </a:rPr>
              <a:t>SIH26173</a:t>
            </a:r>
            <a:endParaRPr lang="en-US" dirty="0"/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>
                <a:solidFill>
                  <a:srgbClr val="262626"/>
                </a:solidFill>
                <a:latin typeface="Arial"/>
              </a:rPr>
              <a:t>Problem Statement Title- </a:t>
            </a:r>
            <a:r>
              <a:rPr sz="1600" b="0">
                <a:solidFill>
                  <a:srgbClr val="262626"/>
                </a:solidFill>
                <a:latin typeface="Arial"/>
              </a:rPr>
              <a:t>iTantra – Indian Multilingual TTS &amp; STT Aided Neural Transceiver Radio Access for low bitrate links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1">
                <a:solidFill>
                  <a:srgbClr val="262626"/>
                </a:solidFill>
                <a:latin typeface="Arial"/>
              </a:rPr>
              <a:t>Theme- </a:t>
            </a:r>
            <a:r>
              <a:rPr sz="2100" b="0">
                <a:solidFill>
                  <a:srgbClr val="262626"/>
                </a:solidFill>
                <a:latin typeface="Arial"/>
              </a:rPr>
              <a:t>Disaster Management / Miscellaneous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1">
                <a:solidFill>
                  <a:srgbClr val="262626"/>
                </a:solidFill>
                <a:latin typeface="Arial"/>
              </a:rPr>
              <a:t>PS Category- </a:t>
            </a:r>
            <a:r>
              <a:rPr sz="2100" b="0">
                <a:solidFill>
                  <a:srgbClr val="262626"/>
                </a:solidFill>
                <a:latin typeface="Arial"/>
              </a:rPr>
              <a:t>Software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1">
                <a:solidFill>
                  <a:srgbClr val="262626"/>
                </a:solidFill>
                <a:latin typeface="Arial"/>
              </a:rPr>
              <a:t>Team ID- </a:t>
            </a:r>
            <a:r>
              <a:rPr sz="2100" b="0">
                <a:solidFill>
                  <a:srgbClr val="262626"/>
                </a:solidFill>
                <a:latin typeface="Arial"/>
              </a:rPr>
              <a:t>______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2100" b="1">
                <a:solidFill>
                  <a:srgbClr val="262626"/>
                </a:solidFill>
                <a:latin typeface="Arial"/>
              </a:rPr>
              <a:t>Team Name- </a:t>
            </a:r>
            <a:r>
              <a:rPr sz="2100" b="0">
                <a:solidFill>
                  <a:srgbClr val="262626"/>
                </a:solidFill>
                <a:latin typeface="Arial"/>
              </a:rPr>
              <a:t>Null Pointers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Null
Pointers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91440" y="1152144"/>
            <a:ext cx="120060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C55A11"/>
                </a:solidFill>
                <a:latin typeface="Arial"/>
              </a:rPr>
              <a:t>iTantra: </a:t>
            </a:r>
            <a:r>
              <a:rPr sz="1400" b="1">
                <a:solidFill>
                  <a:srgbClr val="262626"/>
                </a:solidFill>
                <a:latin typeface="Arial"/>
              </a:rPr>
              <a:t>any Android phone becomes an offline semantic transceiver — speech → on-device STT (10 languages) → ~45-byte text over any surviving link → natural speech at the far end. </a:t>
            </a:r>
            <a:r>
              <a:rPr sz="1400" b="1">
                <a:solidFill>
                  <a:srgbClr val="1F3864"/>
                </a:solidFill>
                <a:latin typeface="Arial"/>
              </a:rPr>
              <a:t>Voice that travels as text: 165–251× less bandwidth than cellular voice.</a:t>
            </a:r>
          </a:p>
        </p:txBody>
      </p:sp>
      <p:pic>
        <p:nvPicPr>
          <p:cNvPr id="15363" name="Picture 15362" descr="pipeline-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700784"/>
            <a:ext cx="9363456" cy="1097280"/>
          </a:xfrm>
          <a:prstGeom prst="rect">
            <a:avLst/>
          </a:prstGeom>
        </p:spPr>
      </p:pic>
      <p:sp>
        <p:nvSpPr>
          <p:cNvPr id="15364" name="Rounded Rectangle 15363"/>
          <p:cNvSpPr/>
          <p:nvPr/>
        </p:nvSpPr>
        <p:spPr>
          <a:xfrm>
            <a:off x="9564624" y="1700784"/>
            <a:ext cx="2724912" cy="2231136"/>
          </a:xfrm>
          <a:prstGeom prst="roundRect">
            <a:avLst/>
          </a:prstGeom>
          <a:solidFill>
            <a:srgbClr val="FDF3EC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C55A11"/>
                </a:solidFill>
                <a:latin typeface="Arial"/>
              </a:rPr>
              <a:t>USP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1. </a:t>
            </a:r>
            <a:r>
              <a:rPr sz="1000" b="1">
                <a:solidFill>
                  <a:srgbClr val="262626"/>
                </a:solidFill>
                <a:latin typeface="Arial"/>
              </a:rPr>
              <a:t>Text is the codec — 165–251× smaller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2. </a:t>
            </a:r>
            <a:r>
              <a:rPr sz="1000" b="1">
                <a:solidFill>
                  <a:srgbClr val="262626"/>
                </a:solidFill>
                <a:latin typeface="Arial"/>
              </a:rPr>
              <a:t>VarnaCode — built for Indic scripts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3. </a:t>
            </a:r>
            <a:r>
              <a:rPr sz="1000" b="1">
                <a:solidFill>
                  <a:srgbClr val="262626"/>
                </a:solidFill>
                <a:latin typeface="Arial"/>
              </a:rPr>
              <a:t>Evaluation Mode — rubric on stage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4. </a:t>
            </a:r>
            <a:r>
              <a:rPr sz="1000" b="1">
                <a:solidFill>
                  <a:srgbClr val="262626"/>
                </a:solidFill>
                <a:latin typeface="Arial"/>
              </a:rPr>
              <a:t>₹1,650 LoRa bridge — link made real</a:t>
            </a:r>
          </a:p>
          <a:p>
            <a:pPr>
              <a:lnSpc>
                <a:spcPct val="100000"/>
              </a:lnSpc>
              <a:spcAft>
                <a:spcPts val="35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5. </a:t>
            </a:r>
            <a:r>
              <a:rPr sz="1000" b="1">
                <a:solidFill>
                  <a:srgbClr val="262626"/>
                </a:solidFill>
                <a:latin typeface="Arial"/>
              </a:rPr>
              <a:t>100% offline Bhashini-lineage AI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91440" y="2944368"/>
            <a:ext cx="120060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The Problem We Solve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Arial"/>
              </a:rPr>
              <a:t>1. </a:t>
            </a:r>
            <a:r>
              <a:rPr sz="1150" b="1">
                <a:solidFill>
                  <a:srgbClr val="262626"/>
                </a:solidFill>
                <a:latin typeface="Arial"/>
              </a:rPr>
              <a:t>Towers die in disasters: </a:t>
            </a:r>
            <a:r>
              <a:rPr sz="1150" b="0">
                <a:solidFill>
                  <a:srgbClr val="262626"/>
                </a:solidFill>
                <a:latin typeface="Arial"/>
              </a:rPr>
              <a:t>Cyclone Amphan downed ~7,000 of 14,167 WB cell towers; networks at 65–70% capacity for days (COAI).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Arial"/>
              </a:rPr>
              <a:t>2. </a:t>
            </a:r>
            <a:r>
              <a:rPr sz="1150" b="1">
                <a:solidFill>
                  <a:srgbClr val="262626"/>
                </a:solidFill>
                <a:latin typeface="Arial"/>
              </a:rPr>
              <a:t>Text alerts miss the vulnerable: </a:t>
            </a:r>
            <a:r>
              <a:rPr sz="1150" b="0">
                <a:solidFill>
                  <a:srgbClr val="262626"/>
                </a:solidFill>
                <a:latin typeface="Arial"/>
              </a:rPr>
              <a:t>rural female literacy ~50.6% — silent SMS structurally under-reaches the disaster-prone belts.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Arial"/>
              </a:rPr>
              <a:t>3. </a:t>
            </a:r>
            <a:r>
              <a:rPr sz="1150" b="1">
                <a:solidFill>
                  <a:srgbClr val="262626"/>
                </a:solidFill>
                <a:latin typeface="Arial"/>
              </a:rPr>
              <a:t>Language exclusion: </a:t>
            </a:r>
            <a:r>
              <a:rPr sz="1150" b="0">
                <a:solidFill>
                  <a:srgbClr val="262626"/>
                </a:solidFill>
                <a:latin typeface="Arial"/>
              </a:rPr>
              <a:t>~90% of rural India communicates only in its mother tongue, across 22 scheduled languages.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Arial"/>
              </a:rPr>
              <a:t>4. </a:t>
            </a:r>
            <a:r>
              <a:rPr sz="1150" b="1">
                <a:solidFill>
                  <a:srgbClr val="262626"/>
                </a:solidFill>
                <a:latin typeface="Arial"/>
              </a:rPr>
              <a:t>Voice is too heavy for weak links: </a:t>
            </a:r>
            <a:r>
              <a:rPr sz="1150" b="0">
                <a:solidFill>
                  <a:srgbClr val="262626"/>
                </a:solidFill>
                <a:latin typeface="Arial"/>
              </a:rPr>
              <a:t>raw voice is 64,000 bps; even NATO’s MELPe battlefield codec needs 600 bps.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91440" y="4078224"/>
            <a:ext cx="12006072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How iTantra Solves It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1. </a:t>
            </a:r>
            <a:r>
              <a:rPr sz="1100" b="1">
                <a:solidFill>
                  <a:srgbClr val="262626"/>
                </a:solidFill>
                <a:latin typeface="Arial"/>
              </a:rPr>
              <a:t>On-device STT: </a:t>
            </a:r>
            <a:r>
              <a:rPr sz="1100" b="0">
                <a:solidFill>
                  <a:srgbClr val="262626"/>
                </a:solidFill>
                <a:latin typeface="Arial"/>
              </a:rPr>
              <a:t>AI4Bharat IndicConformer int8 (MIT) ×9 Indic + English — measured RTF 0.055–0.119, fully offline.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2. </a:t>
            </a:r>
            <a:r>
              <a:rPr sz="1100" b="1">
                <a:solidFill>
                  <a:srgbClr val="262626"/>
                </a:solidFill>
                <a:latin typeface="Arial"/>
              </a:rPr>
              <a:t>Pause-aware sentences: </a:t>
            </a:r>
            <a:r>
              <a:rPr sz="1100" b="0">
                <a:solidFill>
                  <a:srgbClr val="262626"/>
                </a:solidFill>
                <a:latin typeface="Arial"/>
              </a:rPr>
              <a:t>Silero VAD chunks speech into sentences mid-hold, streamed as they form.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3. </a:t>
            </a:r>
            <a:r>
              <a:rPr sz="1100" b="1">
                <a:solidFill>
                  <a:srgbClr val="262626"/>
                </a:solidFill>
                <a:latin typeface="Arial"/>
              </a:rPr>
              <a:t>VarnaCode: </a:t>
            </a:r>
            <a:r>
              <a:rPr sz="1100" b="0">
                <a:solidFill>
                  <a:srgbClr val="262626"/>
                </a:solidFill>
                <a:latin typeface="Arial"/>
              </a:rPr>
              <a:t>Indic-script entropy coding, measured 4.6–5.3 bits/char — a spoken sentence in ~45 bytes = one LoRa frame.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4. </a:t>
            </a:r>
            <a:r>
              <a:rPr sz="1100" b="1">
                <a:solidFill>
                  <a:srgbClr val="262626"/>
                </a:solidFill>
                <a:latin typeface="Arial"/>
              </a:rPr>
              <a:t>Natural voice out: </a:t>
            </a:r>
            <a:r>
              <a:rPr sz="1100" b="0">
                <a:solidFill>
                  <a:srgbClr val="262626"/>
                </a:solidFill>
                <a:latin typeface="Arial"/>
              </a:rPr>
              <a:t>AI4Bharat FastPitch + Piper TTS (MIT), measured RTF 0.049; eSpeak-NG fallback — never silent.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5. </a:t>
            </a:r>
            <a:r>
              <a:rPr sz="1100" b="1">
                <a:solidFill>
                  <a:srgbClr val="262626"/>
                </a:solidFill>
                <a:latin typeface="Arial"/>
              </a:rPr>
              <a:t>Alert mode: </a:t>
            </a:r>
            <a:r>
              <a:rPr sz="1100" b="0">
                <a:solidFill>
                  <a:srgbClr val="262626"/>
                </a:solidFill>
                <a:latin typeface="Arial"/>
              </a:rPr>
              <a:t>priority frames auto-play at max volume, non-interruptible, with a place-name pronunciation lexicon.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6. </a:t>
            </a:r>
            <a:r>
              <a:rPr sz="1100" b="1">
                <a:solidFill>
                  <a:srgbClr val="262626"/>
                </a:solidFill>
                <a:latin typeface="Arial"/>
              </a:rPr>
              <a:t>Walkie-talkie loop: </a:t>
            </a:r>
            <a:r>
              <a:rPr sz="1100" b="0">
                <a:solidFill>
                  <a:srgbClr val="262626"/>
                </a:solidFill>
                <a:latin typeface="Arial"/>
              </a:rPr>
              <a:t>two phones, push-to-talk: STT mode ↔ TTS mode; app off = normal phone (the PS verification loop).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7. </a:t>
            </a:r>
            <a:r>
              <a:rPr sz="1100" b="1">
                <a:solidFill>
                  <a:srgbClr val="262626"/>
                </a:solidFill>
                <a:latin typeface="Arial"/>
              </a:rPr>
              <a:t>Any bearer: </a:t>
            </a:r>
            <a:r>
              <a:rPr sz="1100" b="0">
                <a:solidFill>
                  <a:srgbClr val="262626"/>
                </a:solidFill>
                <a:latin typeface="Arial"/>
              </a:rPr>
              <a:t>Wi-Fi (NSD+TCP) · Bluetooth RFCOMM · ₹1,650 ESP32-LoRa bridge (km-range, IN865 license-free).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8. </a:t>
            </a:r>
            <a:r>
              <a:rPr sz="1100" b="1">
                <a:solidFill>
                  <a:srgbClr val="262626"/>
                </a:solidFill>
                <a:latin typeface="Arial"/>
              </a:rPr>
              <a:t>Live Evaluation Mode: </a:t>
            </a:r>
            <a:r>
              <a:rPr sz="1100" b="0">
                <a:solidFill>
                  <a:srgbClr val="262626"/>
                </a:solidFill>
                <a:latin typeface="Arial"/>
              </a:rPr>
              <a:t>the app measures its own CER/RTF/latency — measured Hindi round-trip CER 1.6%.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Null
Pointers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210312" y="868680"/>
            <a:ext cx="60350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Technologies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• </a:t>
            </a:r>
            <a:r>
              <a:rPr sz="1200" b="1">
                <a:solidFill>
                  <a:srgbClr val="262626"/>
                </a:solidFill>
                <a:latin typeface="Arial"/>
              </a:rPr>
              <a:t>Native Kotlin + Jetpack Compose — </a:t>
            </a:r>
            <a:r>
              <a:rPr sz="1200" b="0">
                <a:solidFill>
                  <a:srgbClr val="262626"/>
                </a:solidFill>
                <a:latin typeface="Arial"/>
              </a:rPr>
              <a:t>foreground service (mic) + audio-focus discipline for Android 14+; APK spine 878 KB, 7 JUnit tests green.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• </a:t>
            </a:r>
            <a:r>
              <a:rPr sz="1200" b="1">
                <a:solidFill>
                  <a:srgbClr val="262626"/>
                </a:solidFill>
                <a:latin typeface="Arial"/>
              </a:rPr>
              <a:t>sherpa-onnx (Apache-2.0): </a:t>
            </a:r>
            <a:r>
              <a:rPr sz="1200" b="0">
                <a:solidFill>
                  <a:srgbClr val="262626"/>
                </a:solidFill>
                <a:latin typeface="Arial"/>
              </a:rPr>
              <a:t>one JNI surface for STT + TTS + VAD — 14.5k★, actively maintained.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• </a:t>
            </a:r>
            <a:r>
              <a:rPr sz="1200" b="1">
                <a:solidFill>
                  <a:srgbClr val="262626"/>
                </a:solidFill>
                <a:latin typeface="Arial"/>
              </a:rPr>
              <a:t>STT: </a:t>
            </a:r>
            <a:r>
              <a:rPr sz="1200" b="0">
                <a:solidFill>
                  <a:srgbClr val="262626"/>
                </a:solidFill>
                <a:latin typeface="Arial"/>
              </a:rPr>
              <a:t>IndicConformer int8 ONNX (MIT) ×9 languages + English; desktop RTF 0.055–0.119 measured.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• </a:t>
            </a:r>
            <a:r>
              <a:rPr sz="1200" b="1">
                <a:solidFill>
                  <a:srgbClr val="262626"/>
                </a:solidFill>
                <a:latin typeface="Arial"/>
              </a:rPr>
              <a:t>TTS: </a:t>
            </a:r>
            <a:r>
              <a:rPr sz="1200" b="0">
                <a:solidFill>
                  <a:srgbClr val="262626"/>
                </a:solidFill>
                <a:latin typeface="Arial"/>
              </a:rPr>
              <a:t>Piper VITS ×6 + AI4Bharat FastPitch ONNX ×4, RTF 0.049 measured; eSpeak-NG fallback.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• </a:t>
            </a:r>
            <a:r>
              <a:rPr sz="1200" b="1">
                <a:solidFill>
                  <a:srgbClr val="262626"/>
                </a:solidFill>
                <a:latin typeface="Arial"/>
              </a:rPr>
              <a:t>Silero VAD (~2 MB) </a:t>
            </a:r>
            <a:r>
              <a:rPr sz="1200" b="0">
                <a:solidFill>
                  <a:srgbClr val="262626"/>
                </a:solidFill>
                <a:latin typeface="Arial"/>
              </a:rPr>
              <a:t>sentence chunking · Oboe (AAudio) 16 kHz low-latency audio.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• </a:t>
            </a:r>
            <a:r>
              <a:rPr sz="1200" b="1">
                <a:solidFill>
                  <a:srgbClr val="262626"/>
                </a:solidFill>
                <a:latin typeface="Arial"/>
              </a:rPr>
              <a:t>Transports: </a:t>
            </a:r>
            <a:r>
              <a:rPr sz="1200" b="0">
                <a:solidFill>
                  <a:srgbClr val="262626"/>
                </a:solidFill>
                <a:latin typeface="Arial"/>
              </a:rPr>
              <a:t>NSD/mDNS + TCP · Bluetooth RFCOMM · ESP32+SX127x LoRa (IN865, 1% duty).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• </a:t>
            </a:r>
            <a:r>
              <a:rPr sz="1200" b="1">
                <a:solidFill>
                  <a:srgbClr val="262626"/>
                </a:solidFill>
                <a:latin typeface="Arial"/>
              </a:rPr>
              <a:t>Protocol: </a:t>
            </a:r>
            <a:r>
              <a:rPr sz="1200" b="0">
                <a:solidFill>
                  <a:srgbClr val="262626"/>
                </a:solidFill>
                <a:latin typeface="Arial"/>
              </a:rPr>
              <a:t>VarnaCode + iTantra Frame [lang·priority·seq·CRC-16] — Kotlin↔Python byte-identical, 143 assertions.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262626"/>
                </a:solidFill>
                <a:latin typeface="Arial"/>
              </a:rPr>
              <a:t>• </a:t>
            </a:r>
            <a:r>
              <a:rPr sz="1200" b="1">
                <a:solidFill>
                  <a:srgbClr val="262626"/>
                </a:solidFill>
                <a:latin typeface="Arial"/>
              </a:rPr>
              <a:t>Compliance: </a:t>
            </a:r>
            <a:r>
              <a:rPr sz="1200" b="0">
                <a:solidFill>
                  <a:srgbClr val="262626"/>
                </a:solidFill>
                <a:latin typeface="Arial"/>
              </a:rPr>
              <a:t>100% open-source (NC &amp; proprietary SDKs excluded) · zero network calls.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Arial"/>
              </a:rPr>
              <a:t>Methodology: </a:t>
            </a:r>
            <a:r>
              <a:rPr sz="1200" b="0">
                <a:solidFill>
                  <a:srgbClr val="262626"/>
                </a:solidFill>
                <a:latin typeface="Arial"/>
              </a:rPr>
              <a:t>P0 desktop twin measured first (CER/RTF/compression) → P1–P2 Android spine + Hindi loop → P3 ten languages + alerts → P4 Evaluation Mode → P5 LoRa + AES-GCM.</a:t>
            </a:r>
          </a:p>
        </p:txBody>
      </p:sp>
      <p:pic>
        <p:nvPicPr>
          <p:cNvPr id="17411" name="Picture 1741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896112"/>
            <a:ext cx="5760720" cy="2066543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547104" y="307238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Proposed Tech Stack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547104" y="3401568"/>
            <a:ext cx="1316736" cy="640080"/>
          </a:xfrm>
          <a:prstGeom prst="roundRect">
            <a:avLst/>
          </a:prstGeom>
          <a:solidFill>
            <a:srgbClr val="EBF3FA"/>
          </a:solidFill>
          <a:ln w="15875">
            <a:solidFill>
              <a:srgbClr val="1D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Kotlin + Compose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964424" y="3401568"/>
            <a:ext cx="1316736" cy="640080"/>
          </a:xfrm>
          <a:prstGeom prst="roundRect">
            <a:avLst/>
          </a:prstGeom>
          <a:solidFill>
            <a:srgbClr val="ECF6EC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sherpa-onnx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381744" y="3401568"/>
            <a:ext cx="1316736" cy="640080"/>
          </a:xfrm>
          <a:prstGeom prst="roundRect">
            <a:avLst/>
          </a:prstGeom>
          <a:solidFill>
            <a:srgbClr val="FDF3EC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IndicConformer int8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0799064" y="3401568"/>
            <a:ext cx="1316736" cy="640080"/>
          </a:xfrm>
          <a:prstGeom prst="roundRect">
            <a:avLst/>
          </a:prstGeom>
          <a:solidFill>
            <a:srgbClr val="EBF3FA"/>
          </a:solidFill>
          <a:ln w="15875">
            <a:solidFill>
              <a:srgbClr val="1D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Piper / FastPitch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547104" y="4206240"/>
            <a:ext cx="1316736" cy="640080"/>
          </a:xfrm>
          <a:prstGeom prst="roundRect">
            <a:avLst/>
          </a:prstGeom>
          <a:solidFill>
            <a:srgbClr val="ECF6EC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Silero VAD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964424" y="4206240"/>
            <a:ext cx="1316736" cy="640080"/>
          </a:xfrm>
          <a:prstGeom prst="roundRect">
            <a:avLst/>
          </a:prstGeom>
          <a:solidFill>
            <a:srgbClr val="FDF3EC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Oboe audio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381744" y="4206240"/>
            <a:ext cx="1316736" cy="640080"/>
          </a:xfrm>
          <a:prstGeom prst="roundRect">
            <a:avLst/>
          </a:prstGeom>
          <a:solidFill>
            <a:srgbClr val="EBF3FA"/>
          </a:solidFill>
          <a:ln w="15875">
            <a:solidFill>
              <a:srgbClr val="1D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NSD + BT RFCOMM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0799064" y="4206240"/>
            <a:ext cx="1316736" cy="640080"/>
          </a:xfrm>
          <a:prstGeom prst="roundRect">
            <a:avLst/>
          </a:prstGeom>
          <a:solidFill>
            <a:srgbClr val="ECF6EC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262626"/>
                </a:solidFill>
                <a:latin typeface="Arial"/>
              </a:rPr>
              <a:t>ESP32 LoRa · IN865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547104" y="4956048"/>
            <a:ext cx="5577840" cy="11887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Measured tonight — desktop CPU, real models</a:t>
            </a:r>
          </a:p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STT RTF 0.055–0.119 · TTS RTF 0.049 · Hindi round-trip CER 1.6% / WER 7.1%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262626"/>
                </a:solidFill>
                <a:latin typeface="Arial"/>
              </a:rPr>
              <a:t>VarnaCode 4.6–5.3 bits/char (hi·bn·ta·te·en) · 143 protocol assertions · Kotlin↔Python byte-identical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Null
Pointers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46304" y="969264"/>
            <a:ext cx="78638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1. On-device speed on budget phones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Problem: </a:t>
            </a:r>
            <a:r>
              <a:rPr sz="1100" b="0">
                <a:solidFill>
                  <a:srgbClr val="262626"/>
                </a:solidFill>
                <a:latin typeface="Arial"/>
              </a:rPr>
              <a:t>phone RTF unproven; figures are desktop/ARM-proxy.</a:t>
            </a:r>
            <a:r>
              <a:rPr sz="1100" b="1">
                <a:solidFill>
                  <a:srgbClr val="C55A11"/>
                </a:solidFill>
                <a:latin typeface="Arial"/>
              </a:rPr>
              <a:t>   Approach: </a:t>
            </a:r>
            <a:r>
              <a:rPr sz="1100" b="0">
                <a:solidFill>
                  <a:srgbClr val="262626"/>
                </a:solidFill>
                <a:latin typeface="Arial"/>
              </a:rPr>
              <a:t>P0 measured desktop RTF 0.049–0.119 (8–20× real-time headroom); int8 ladder + smaller voices if a budget phone runs tight.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146304" y="1865376"/>
            <a:ext cx="78638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2. Community ONNX conversions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Problem: </a:t>
            </a:r>
            <a:r>
              <a:rPr sz="1100" b="0">
                <a:solidFill>
                  <a:srgbClr val="262626"/>
                </a:solidFill>
                <a:latin typeface="Arial"/>
              </a:rPr>
              <a:t>sherpa-onnx IndicConformer wrappers are community-made.</a:t>
            </a:r>
            <a:r>
              <a:rPr sz="1100" b="1">
                <a:solidFill>
                  <a:srgbClr val="C55A11"/>
                </a:solidFill>
                <a:latin typeface="Arial"/>
              </a:rPr>
              <a:t>   Approach: </a:t>
            </a:r>
            <a:r>
              <a:rPr sz="1100" b="0">
                <a:solidFill>
                  <a:srgbClr val="262626"/>
                </a:solidFill>
                <a:latin typeface="Arial"/>
              </a:rPr>
              <a:t>Per-language QA budgeted; hard fallback = ONNX Runtime Mobile on AI4Bharat’s official int8 export.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146304" y="2761488"/>
            <a:ext cx="78638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3. TTS export for 4 languages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Problem: </a:t>
            </a:r>
            <a:r>
              <a:rPr sz="1100" b="0">
                <a:solidFill>
                  <a:srgbClr val="262626"/>
                </a:solidFill>
                <a:latin typeface="Arial"/>
              </a:rPr>
              <a:t>Gujarati, Kannada, Tamil, Odia lack ready ONNX voices.</a:t>
            </a:r>
            <a:r>
              <a:rPr sz="1100" b="1">
                <a:solidFill>
                  <a:srgbClr val="C55A11"/>
                </a:solidFill>
                <a:latin typeface="Arial"/>
              </a:rPr>
              <a:t>   Approach: </a:t>
            </a:r>
            <a:r>
              <a:rPr sz="1100" b="0">
                <a:solidFill>
                  <a:srgbClr val="262626"/>
                </a:solidFill>
                <a:latin typeface="Arial"/>
              </a:rPr>
              <a:t>Same FastPitch→ONNX recipe as NVIDIA Riva; scoped to 4; eSpeak-NG keeps every language audible meanwhile.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46304" y="3657600"/>
            <a:ext cx="78638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4. Wi-Fi Direct is OEM-flaky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Problem: </a:t>
            </a:r>
            <a:r>
              <a:rPr sz="1100" b="0">
                <a:solidFill>
                  <a:srgbClr val="262626"/>
                </a:solidFill>
                <a:latin typeface="Arial"/>
              </a:rPr>
              <a:t>pairing silently fails on some vendor skins.</a:t>
            </a:r>
            <a:r>
              <a:rPr sz="1100" b="1">
                <a:solidFill>
                  <a:srgbClr val="C55A11"/>
                </a:solidFill>
                <a:latin typeface="Arial"/>
              </a:rPr>
              <a:t>   Approach: </a:t>
            </a:r>
            <a:r>
              <a:rPr sz="1100" b="0">
                <a:solidFill>
                  <a:srgbClr val="262626"/>
                </a:solidFill>
                <a:latin typeface="Arial"/>
              </a:rPr>
              <a:t>Not on the critical path: hotspot + NSD + TCP default, Bluetooth RFCOMM backup, Wi-Fi Direct = stretch.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46304" y="4553712"/>
            <a:ext cx="78638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5. Android background-audio policy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Problem: </a:t>
            </a:r>
            <a:r>
              <a:rPr sz="1100" b="0">
                <a:solidFill>
                  <a:srgbClr val="262626"/>
                </a:solidFill>
                <a:latin typeface="Arial"/>
              </a:rPr>
              <a:t>where stale sample apps die (fg-service types, focus).</a:t>
            </a:r>
            <a:r>
              <a:rPr sz="1100" b="1">
                <a:solidFill>
                  <a:srgbClr val="C55A11"/>
                </a:solidFill>
                <a:latin typeface="Arial"/>
              </a:rPr>
              <a:t>   Approach: </a:t>
            </a:r>
            <a:r>
              <a:rPr sz="1100" b="0">
                <a:solidFill>
                  <a:srgbClr val="262626"/>
                </a:solidFill>
                <a:latin typeface="Arial"/>
              </a:rPr>
              <a:t>Built fresh and first: fg service + audio focus already in the P1 spine — compiling, tested.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46304" y="5449824"/>
            <a:ext cx="78638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864"/>
                </a:solidFill>
                <a:latin typeface="Arial"/>
              </a:rPr>
              <a:t>6. STT errors become spoken misinformation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Problem: </a:t>
            </a:r>
            <a:r>
              <a:rPr sz="1100" b="0">
                <a:solidFill>
                  <a:srgbClr val="262626"/>
                </a:solidFill>
                <a:latin typeface="Arial"/>
              </a:rPr>
              <a:t>a mis-recognition would be confidently re-spoken.</a:t>
            </a:r>
            <a:r>
              <a:rPr sz="1100" b="1">
                <a:solidFill>
                  <a:srgbClr val="C55A11"/>
                </a:solidFill>
                <a:latin typeface="Arial"/>
              </a:rPr>
              <a:t>   Approach: </a:t>
            </a:r>
            <a:r>
              <a:rPr sz="1100" b="0">
                <a:solidFill>
                  <a:srgbClr val="262626"/>
                </a:solidFill>
                <a:latin typeface="Arial"/>
              </a:rPr>
              <a:t>Confidence gate (“repeat that?”), transcript on both screens, pronunciation lexicon for alerts.</a:t>
            </a:r>
          </a:p>
        </p:txBody>
      </p:sp>
      <p:pic>
        <p:nvPicPr>
          <p:cNvPr id="17416" name="Picture 17415" descr="feasibility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914400"/>
            <a:ext cx="3758184" cy="538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Null
Pointers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93192" y="941832"/>
            <a:ext cx="6766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Arial"/>
              </a:rPr>
              <a:t>Potential Impacts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• </a:t>
            </a:r>
            <a:r>
              <a:rPr sz="1150" b="1">
                <a:solidFill>
                  <a:srgbClr val="262626"/>
                </a:solidFill>
                <a:latin typeface="Arial"/>
              </a:rPr>
              <a:t>Last-mile inclusion: </a:t>
            </a:r>
            <a:r>
              <a:rPr sz="1150" b="0">
                <a:solidFill>
                  <a:srgbClr val="262626"/>
                </a:solidFill>
                <a:latin typeface="Arial"/>
              </a:rPr>
              <a:t>voice-native two-way comms reach the ~50% of rural women and 1-in-3 rural Indians whom text alerts miss — in their own language.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• </a:t>
            </a:r>
            <a:r>
              <a:rPr sz="1150" b="1">
                <a:solidFill>
                  <a:srgbClr val="262626"/>
                </a:solidFill>
                <a:latin typeface="Arial"/>
              </a:rPr>
              <a:t>Completes ISRO’s disaster stack: </a:t>
            </a:r>
            <a:r>
              <a:rPr sz="1150" b="0">
                <a:solidFill>
                  <a:srgbClr val="262626"/>
                </a:solidFill>
                <a:latin typeface="Arial"/>
              </a:rPr>
              <a:t>the multilingual voice layer for GSAT mobile-radio / VSAT–SDMA low-bitrate links (DMS programme).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• </a:t>
            </a:r>
            <a:r>
              <a:rPr sz="1150" b="1">
                <a:solidFill>
                  <a:srgbClr val="262626"/>
                </a:solidFill>
                <a:latin typeface="Arial"/>
              </a:rPr>
              <a:t>Resilience economics: </a:t>
            </a:r>
            <a:r>
              <a:rPr sz="1150" b="0">
                <a:solidFill>
                  <a:srgbClr val="262626"/>
                </a:solidFill>
                <a:latin typeface="Arial"/>
              </a:rPr>
              <a:t>existing phones + ₹1,650 LoRa node vs ₹8,000–25,000 hardware walkie-talkie pairs.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• </a:t>
            </a:r>
            <a:r>
              <a:rPr sz="1150" b="1">
                <a:solidFill>
                  <a:srgbClr val="262626"/>
                </a:solidFill>
                <a:latin typeface="Arial"/>
              </a:rPr>
              <a:t>Research → reality: </a:t>
            </a:r>
            <a:r>
              <a:rPr sz="1150" b="0">
                <a:solidFill>
                  <a:srgbClr val="262626"/>
                </a:solidFill>
                <a:latin typeface="Arial"/>
              </a:rPr>
              <a:t>a deployable Indian instance of 6G semantic communication.</a:t>
            </a:r>
          </a:p>
        </p:txBody>
      </p:sp>
      <p:pic>
        <p:nvPicPr>
          <p:cNvPr id="17411" name="Picture 17410" descr="chart-by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941832"/>
            <a:ext cx="4572000" cy="2395728"/>
          </a:xfrm>
          <a:prstGeom prst="rect">
            <a:avLst/>
          </a:prstGeom>
        </p:spPr>
      </p:pic>
      <p:pic>
        <p:nvPicPr>
          <p:cNvPr id="17412" name="Picture 17411" descr="chart-bitsch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611880"/>
            <a:ext cx="4480560" cy="239572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5321808" y="3611880"/>
            <a:ext cx="6492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55A11"/>
                </a:solidFill>
                <a:latin typeface="Arial"/>
              </a:rPr>
              <a:t>Benefits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• </a:t>
            </a:r>
            <a:r>
              <a:rPr sz="1150" b="1">
                <a:solidFill>
                  <a:srgbClr val="262626"/>
                </a:solidFill>
                <a:latin typeface="Arial"/>
              </a:rPr>
              <a:t>Social: </a:t>
            </a:r>
            <a:r>
              <a:rPr sz="1150" b="0">
                <a:solidFill>
                  <a:srgbClr val="262626"/>
                </a:solidFill>
                <a:latin typeface="Arial"/>
              </a:rPr>
              <a:t>literacy-independent; 10 languages ≈ 85%+ of India; voice serves visually-impaired, transcript serves hearing-impaired.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• </a:t>
            </a:r>
            <a:r>
              <a:rPr sz="1150" b="1">
                <a:solidFill>
                  <a:srgbClr val="262626"/>
                </a:solidFill>
                <a:latin typeface="Arial"/>
              </a:rPr>
              <a:t>Economic: </a:t>
            </a:r>
            <a:r>
              <a:rPr sz="1150" b="0">
                <a:solidFill>
                  <a:srgbClr val="262626"/>
                </a:solidFill>
                <a:latin typeface="Arial"/>
              </a:rPr>
              <a:t>zero recurring cost — no SIM, no data plan, no server; open-source, procurement-friendly.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• </a:t>
            </a:r>
            <a:r>
              <a:rPr sz="1150" b="1">
                <a:solidFill>
                  <a:srgbClr val="262626"/>
                </a:solidFill>
                <a:latin typeface="Arial"/>
              </a:rPr>
              <a:t>Strategic: </a:t>
            </a:r>
            <a:r>
              <a:rPr sz="1150" b="0">
                <a:solidFill>
                  <a:srgbClr val="262626"/>
                </a:solidFill>
                <a:latin typeface="Arial"/>
              </a:rPr>
              <a:t>sovereign stack — Indian models (Bhashini/AI4Bharat), Indian band plan (IN865), no foreign cloud.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Arial"/>
              </a:rPr>
              <a:t>• </a:t>
            </a:r>
            <a:r>
              <a:rPr sz="1150" b="1">
                <a:solidFill>
                  <a:srgbClr val="262626"/>
                </a:solidFill>
                <a:latin typeface="Arial"/>
              </a:rPr>
              <a:t>Environmental / operational: </a:t>
            </a:r>
            <a:r>
              <a:rPr sz="1150" b="0">
                <a:solidFill>
                  <a:srgbClr val="262626"/>
                </a:solidFill>
                <a:latin typeface="Arial"/>
              </a:rPr>
              <a:t>int8-efficient; LoRa nodes run days on a power bank — works on solar in a blackout.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62626"/>
                </a:solidFill>
                <a:latin typeface="Arial"/>
              </a:rPr>
              <a:t>Null
Pointers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005840"/>
            <a:ext cx="11475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1. </a:t>
            </a:r>
            <a:r>
              <a:rPr sz="1200" b="1">
                <a:solidFill>
                  <a:srgbClr val="262626"/>
                </a:solidFill>
                <a:latin typeface="Arial"/>
              </a:rPr>
              <a:t>Cyclone Amphan outage: </a:t>
            </a:r>
            <a:r>
              <a:rPr sz="1200" b="0">
                <a:solidFill>
                  <a:srgbClr val="262626"/>
                </a:solidFill>
                <a:latin typeface="Arial"/>
              </a:rPr>
              <a:t>~7,000/14,167 WB towers down; 65–70% capacity for days (COAI). </a:t>
            </a:r>
            <a:r>
              <a:rPr sz="1200" b="0">
                <a:solidFill>
                  <a:srgbClr val="0563C1"/>
                </a:solidFill>
                <a:latin typeface="Arial"/>
                <a:hlinkClick r:id="rId4"/>
              </a:rPr>
              <a:t>deccanherald.com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2. </a:t>
            </a:r>
            <a:r>
              <a:rPr sz="1200" b="1">
                <a:solidFill>
                  <a:srgbClr val="262626"/>
                </a:solidFill>
                <a:latin typeface="Arial"/>
              </a:rPr>
              <a:t>The bitrate math: </a:t>
            </a:r>
            <a:r>
              <a:rPr sz="1200" b="0">
                <a:solidFill>
                  <a:srgbClr val="262626"/>
                </a:solidFill>
                <a:latin typeface="Arial"/>
              </a:rPr>
              <a:t>MELPe 600 bps (STANAG 4591) &amp; Codec2 450 bps vs speech-as-text ≈107 bps. </a:t>
            </a:r>
            <a:r>
              <a:rPr sz="1200" b="0">
                <a:solidFill>
                  <a:srgbClr val="0563C1"/>
                </a:solidFill>
                <a:latin typeface="Arial"/>
                <a:hlinkClick r:id="rId5"/>
              </a:rPr>
              <a:t>melp.org · github.com/drowe67/codec2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3. </a:t>
            </a:r>
            <a:r>
              <a:rPr sz="1200" b="1">
                <a:solidFill>
                  <a:srgbClr val="262626"/>
                </a:solidFill>
                <a:latin typeface="Arial"/>
              </a:rPr>
              <a:t>Semantic communications survey: </a:t>
            </a:r>
            <a:r>
              <a:rPr sz="1200" b="0">
                <a:solidFill>
                  <a:srgbClr val="262626"/>
                </a:solidFill>
                <a:latin typeface="Arial"/>
              </a:rPr>
              <a:t>Qin, Tao, Lu, Tong &amp; Li, 2021. </a:t>
            </a:r>
            <a:r>
              <a:rPr sz="1200" b="0">
                <a:solidFill>
                  <a:srgbClr val="0563C1"/>
                </a:solidFill>
                <a:latin typeface="Arial"/>
                <a:hlinkClick r:id="rId6"/>
              </a:rPr>
              <a:t>arxiv.org/abs/2201.01389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4. </a:t>
            </a:r>
            <a:r>
              <a:rPr sz="1200" b="1">
                <a:solidFill>
                  <a:srgbClr val="262626"/>
                </a:solidFill>
                <a:latin typeface="Arial"/>
              </a:rPr>
              <a:t>DeepSC-ST: </a:t>
            </a:r>
            <a:r>
              <a:rPr sz="1200" b="0">
                <a:solidFill>
                  <a:srgbClr val="262626"/>
                </a:solidFill>
                <a:latin typeface="Arial"/>
              </a:rPr>
              <a:t>recognition-domain speech transceiver, IEEE Trans. Wireless Comm. 2023. </a:t>
            </a:r>
            <a:r>
              <a:rPr sz="1200" b="0">
                <a:solidFill>
                  <a:srgbClr val="0563C1"/>
                </a:solidFill>
                <a:latin typeface="Arial"/>
                <a:hlinkClick r:id="rId7"/>
              </a:rPr>
              <a:t>doi.org/10.1109/TWC.2023.3240969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5. </a:t>
            </a:r>
            <a:r>
              <a:rPr sz="1200" b="1">
                <a:solidFill>
                  <a:srgbClr val="262626"/>
                </a:solidFill>
                <a:latin typeface="Arial"/>
              </a:rPr>
              <a:t>STT over low-rate links: </a:t>
            </a:r>
            <a:r>
              <a:rPr sz="1200" b="0">
                <a:solidFill>
                  <a:srgbClr val="262626"/>
                </a:solidFill>
                <a:latin typeface="Arial"/>
              </a:rPr>
              <a:t>up to 94% latency reduction vs compressed audio (2025). </a:t>
            </a:r>
            <a:r>
              <a:rPr sz="1200" b="0">
                <a:solidFill>
                  <a:srgbClr val="0563C1"/>
                </a:solidFill>
                <a:latin typeface="Arial"/>
                <a:hlinkClick r:id="rId8"/>
              </a:rPr>
              <a:t>researchgate.net/394380603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6. </a:t>
            </a:r>
            <a:r>
              <a:rPr sz="1200" b="1">
                <a:solidFill>
                  <a:srgbClr val="262626"/>
                </a:solidFill>
                <a:latin typeface="Arial"/>
              </a:rPr>
              <a:t>IndicConformer (AI4Bharat): </a:t>
            </a:r>
            <a:r>
              <a:rPr sz="1200" b="0">
                <a:solidFill>
                  <a:srgbClr val="262626"/>
                </a:solidFill>
                <a:latin typeface="Arial"/>
              </a:rPr>
              <a:t>MIT, 22 languages, official int8 ONNX; Hindi WER 13.2 (Vaani). </a:t>
            </a:r>
            <a:r>
              <a:rPr sz="1200" b="0">
                <a:solidFill>
                  <a:srgbClr val="0563C1"/>
                </a:solidFill>
                <a:latin typeface="Arial"/>
                <a:hlinkClick r:id="rId9"/>
              </a:rPr>
              <a:t>huggingface.co/ai4bharat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7. </a:t>
            </a:r>
            <a:r>
              <a:rPr sz="1200" b="1">
                <a:solidFill>
                  <a:srgbClr val="262626"/>
                </a:solidFill>
                <a:latin typeface="Arial"/>
              </a:rPr>
              <a:t>AI4Bharat Indic-TTS: </a:t>
            </a:r>
            <a:r>
              <a:rPr sz="1200" b="0">
                <a:solidFill>
                  <a:srgbClr val="262626"/>
                </a:solidFill>
                <a:latin typeface="Arial"/>
              </a:rPr>
              <a:t>FastPitch + HiFi-GAN, MIT, 13 Indic languages. </a:t>
            </a:r>
            <a:r>
              <a:rPr sz="1200" b="0">
                <a:solidFill>
                  <a:srgbClr val="0563C1"/>
                </a:solidFill>
                <a:latin typeface="Arial"/>
                <a:hlinkClick r:id="rId10"/>
              </a:rPr>
              <a:t>arxiv.org/abs/2211.09536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8. </a:t>
            </a:r>
            <a:r>
              <a:rPr sz="1200" b="1">
                <a:solidFill>
                  <a:srgbClr val="262626"/>
                </a:solidFill>
                <a:latin typeface="Arial"/>
              </a:rPr>
              <a:t>CER, not WER, for Indic ASR: </a:t>
            </a:r>
            <a:r>
              <a:rPr sz="1200" b="0">
                <a:solidFill>
                  <a:srgbClr val="262626"/>
                </a:solidFill>
                <a:latin typeface="Arial"/>
              </a:rPr>
              <a:t>WER over-punishes agglutinative languages. </a:t>
            </a:r>
            <a:r>
              <a:rPr sz="1200" b="0">
                <a:solidFill>
                  <a:srgbClr val="0563C1"/>
                </a:solidFill>
                <a:latin typeface="Arial"/>
                <a:hlinkClick r:id="rId11"/>
              </a:rPr>
              <a:t>arxiv.org/abs/2203.16601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9. </a:t>
            </a:r>
            <a:r>
              <a:rPr sz="1200" b="1">
                <a:solidFill>
                  <a:srgbClr val="262626"/>
                </a:solidFill>
                <a:latin typeface="Arial"/>
              </a:rPr>
              <a:t>J-Alert (Japan): </a:t>
            </a:r>
            <a:r>
              <a:rPr sz="1200" b="0">
                <a:solidFill>
                  <a:srgbClr val="262626"/>
                </a:solidFill>
                <a:latin typeface="Arial"/>
              </a:rPr>
              <a:t>national TTS-spoken disaster alerts in 5 languages. </a:t>
            </a:r>
            <a:r>
              <a:rPr sz="1200" b="0">
                <a:solidFill>
                  <a:srgbClr val="0563C1"/>
                </a:solidFill>
                <a:latin typeface="Arial"/>
                <a:hlinkClick r:id="rId12"/>
              </a:rPr>
              <a:t>wikipedia.org/wiki/J-Alert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10. </a:t>
            </a:r>
            <a:r>
              <a:rPr sz="1200" b="1">
                <a:solidFill>
                  <a:srgbClr val="262626"/>
                </a:solidFill>
                <a:latin typeface="Arial"/>
              </a:rPr>
              <a:t>IN865 LoRa: </a:t>
            </a:r>
            <a:r>
              <a:rPr sz="1200" b="0">
                <a:solidFill>
                  <a:srgbClr val="262626"/>
                </a:solidFill>
                <a:latin typeface="Arial"/>
              </a:rPr>
              <a:t>865–867 MHz license-free, 1% duty, 30 dBm — km-range at ₹1,650/node. </a:t>
            </a:r>
            <a:r>
              <a:rPr sz="1200" b="0">
                <a:solidFill>
                  <a:srgbClr val="0563C1"/>
                </a:solidFill>
                <a:latin typeface="Arial"/>
                <a:hlinkClick r:id="rId13"/>
              </a:rPr>
              <a:t>ensembletech.in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00" b="1">
                <a:solidFill>
                  <a:srgbClr val="262626"/>
                </a:solidFill>
                <a:latin typeface="Arial"/>
              </a:rPr>
              <a:t>11. </a:t>
            </a:r>
            <a:r>
              <a:rPr sz="1200" b="1">
                <a:solidFill>
                  <a:srgbClr val="262626"/>
                </a:solidFill>
                <a:latin typeface="Arial"/>
              </a:rPr>
              <a:t>Project repository: </a:t>
            </a:r>
            <a:r>
              <a:rPr sz="1200" b="0">
                <a:solidFill>
                  <a:srgbClr val="262626"/>
                </a:solidFill>
                <a:latin typeface="Arial"/>
              </a:rPr>
              <a:t>app + firmware + evaluation harness + license audit (link added on submission).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5504688"/>
            <a:ext cx="11475720" cy="658368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Arial"/>
              </a:rPr>
              <a:t>Everything above is reproducible: </a:t>
            </a:r>
            <a:r>
              <a:rPr sz="1200" b="0">
                <a:solidFill>
                  <a:srgbClr val="262626"/>
                </a:solidFill>
                <a:latin typeface="Arial"/>
              </a:rPr>
              <a:t>private repo — 143 protocol assertions · measured CER 1.6% Hindi loop · compiling Android APK (878 KB) — </a:t>
            </a:r>
            <a:r>
              <a:rPr sz="1200" b="1">
                <a:solidFill>
                  <a:srgbClr val="C55A11"/>
                </a:solidFill>
                <a:latin typeface="Arial"/>
              </a:rPr>
              <a:t>built before submission, not promised.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