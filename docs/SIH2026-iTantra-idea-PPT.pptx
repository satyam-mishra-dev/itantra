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github.com/satyam-mishra-dev/itantra" TargetMode="External"/><Relationship Id="rId5" Type="http://schemas.openxmlformats.org/officeDocument/2006/relationships/hyperlink" Target="https://www.deccanherald.com/india/cyclone-amphan-telecom-networks-operating-at-65-70-capacity-in-affected-districts-says-coai-840844.html" TargetMode="External"/><Relationship Id="rId6" Type="http://schemas.openxmlformats.org/officeDocument/2006/relationships/hyperlink" Target="https://github.com/drowe67/codec2" TargetMode="External"/><Relationship Id="rId7" Type="http://schemas.openxmlformats.org/officeDocument/2006/relationships/hyperlink" Target="https://arxiv.org/abs/2201.01389" TargetMode="External"/><Relationship Id="rId8" Type="http://schemas.openxmlformats.org/officeDocument/2006/relationships/hyperlink" Target="https://doi.org/10.1109/TWC.2023.3240969" TargetMode="External"/><Relationship Id="rId9" Type="http://schemas.openxmlformats.org/officeDocument/2006/relationships/hyperlink" Target="https://www.researchgate.net/publication/394380603_Voice_over_Low_Data_Rate_Networks_Using_Speech-to-Text_and_Semantic_Compression" TargetMode="External"/><Relationship Id="rId10" Type="http://schemas.openxmlformats.org/officeDocument/2006/relationships/hyperlink" Target="https://huggingface.co/ai4bharat/indic-conformer-600m-multilingual" TargetMode="External"/><Relationship Id="rId11" Type="http://schemas.openxmlformats.org/officeDocument/2006/relationships/hyperlink" Target="https://arxiv.org/abs/2211.09536" TargetMode="External"/><Relationship Id="rId12" Type="http://schemas.openxmlformats.org/officeDocument/2006/relationships/hyperlink" Target="https://arxiv.org/abs/2203.16601" TargetMode="External"/><Relationship Id="rId13" Type="http://schemas.openxmlformats.org/officeDocument/2006/relationships/hyperlink" Target="https://pmc.ncbi.nlm.nih.gov/articles/PMC11424238/" TargetMode="External"/><Relationship Id="rId14" Type="http://schemas.openxmlformats.org/officeDocument/2006/relationships/hyperlink" Target="https://arxiv.org/abs/2501.05859" TargetMode="External"/><Relationship Id="rId15" Type="http://schemas.openxmlformats.org/officeDocument/2006/relationships/hyperlink" Target="https://www.ensembletech.in/lora-frequency-bands-india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262626"/>
                </a:solidFill>
                <a:latin typeface="Arial"/>
              </a:rPr>
              <a:t>Problem Statement ID – </a:t>
            </a:r>
            <a:r>
              <a:rPr sz="1800" b="0">
                <a:solidFill>
                  <a:srgbClr val="262626"/>
                </a:solidFill>
                <a:latin typeface="Arial"/>
              </a:rPr>
              <a:t>SIH26173</a:t>
            </a:r>
            <a:endParaRPr lang="en-US" dirty="0"/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262626"/>
                </a:solidFill>
                <a:latin typeface="Arial"/>
              </a:rPr>
              <a:t>Problem Statement Title- </a:t>
            </a:r>
            <a:r>
              <a:rPr sz="1800" b="0">
                <a:solidFill>
                  <a:srgbClr val="262626"/>
                </a:solidFill>
                <a:latin typeface="Arial"/>
              </a:rPr>
              <a:t>iTantra – Indian Multilingual TTS &amp; STT Aided Neural Transceiver Radio Access for low bitrate links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262626"/>
                </a:solidFill>
                <a:latin typeface="Arial"/>
              </a:rPr>
              <a:t>Theme- </a:t>
            </a:r>
            <a:r>
              <a:rPr sz="1800" b="0">
                <a:solidFill>
                  <a:srgbClr val="262626"/>
                </a:solidFill>
                <a:latin typeface="Arial"/>
              </a:rPr>
              <a:t>Disaster Management / Miscellaneous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262626"/>
                </a:solidFill>
                <a:latin typeface="Arial"/>
              </a:rPr>
              <a:t>PS Category- </a:t>
            </a:r>
            <a:r>
              <a:rPr sz="1800" b="0">
                <a:solidFill>
                  <a:srgbClr val="262626"/>
                </a:solidFill>
                <a:latin typeface="Arial"/>
              </a:rPr>
              <a:t>Software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262626"/>
                </a:solidFill>
                <a:latin typeface="Arial"/>
              </a:rPr>
              <a:t>Team ID- </a:t>
            </a:r>
            <a:r>
              <a:rPr sz="1800" b="0">
                <a:solidFill>
                  <a:srgbClr val="262626"/>
                </a:solidFill>
                <a:latin typeface="Arial"/>
              </a:rPr>
              <a:t>______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262626"/>
                </a:solidFill>
                <a:latin typeface="Arial"/>
              </a:rPr>
              <a:t>Team Name- </a:t>
            </a:r>
            <a:r>
              <a:rPr sz="1800" b="0">
                <a:solidFill>
                  <a:srgbClr val="262626"/>
                </a:solidFill>
                <a:latin typeface="Arial"/>
              </a:rPr>
              <a:t>Null Pointers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Oval 37"/>
          <p:cNvSpPr/>
          <p:nvPr/>
        </p:nvSpPr>
        <p:spPr>
          <a:xfrm>
            <a:off x="91440" y="54864"/>
            <a:ext cx="1325880" cy="8046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B5B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274320" y="1060704"/>
            <a:ext cx="11658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C55A11"/>
                </a:solidFill>
                <a:latin typeface="Arial"/>
              </a:rPr>
              <a:t>iTantra:</a:t>
            </a:r>
            <a:r>
              <a:rPr sz="1300" b="1">
                <a:solidFill>
                  <a:srgbClr val="262626"/>
                </a:solidFill>
                <a:latin typeface="Arial"/>
              </a:rPr>
              <a:t> any Android phone becomes an offline semantic transceiver — speech → on-device STT (10 Indian languages) → ~45-byte text over any surviving link → natural speech at the far end. </a:t>
            </a:r>
            <a:r>
              <a:rPr sz="1300" b="1">
                <a:solidFill>
                  <a:srgbClr val="C55A11"/>
                </a:solidFill>
                <a:latin typeface="Arial"/>
              </a:rPr>
              <a:t>Voice as text: 169× less than cellular voice, 889× less than raw.</a:t>
            </a:r>
          </a:p>
        </p:txBody>
      </p:sp>
      <p:pic>
        <p:nvPicPr>
          <p:cNvPr id="15363" name="Picture 15362" descr="pipeline-mi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682496"/>
            <a:ext cx="11338560" cy="1333603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411480" y="3090672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C55A11"/>
                </a:solidFill>
                <a:latin typeface="Arial"/>
              </a:rPr>
              <a:t>The app grades itself on stage — live CER · RTF · latency. Measured on real human speech: Hindi CER 2.9%.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274320" y="3474720"/>
            <a:ext cx="7452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F3864"/>
                </a:solidFill>
                <a:latin typeface="Arial"/>
              </a:rPr>
              <a:t>The Problem We Solve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1. </a:t>
            </a:r>
            <a:r>
              <a:rPr sz="1050" b="1">
                <a:solidFill>
                  <a:srgbClr val="262626"/>
                </a:solidFill>
                <a:latin typeface="Arial"/>
              </a:rPr>
              <a:t>Towers die in disasters: </a:t>
            </a:r>
            <a:r>
              <a:rPr sz="1050" b="0">
                <a:solidFill>
                  <a:srgbClr val="262626"/>
                </a:solidFill>
                <a:latin typeface="Arial"/>
              </a:rPr>
              <a:t>Amphan knocked out ~7,000 of 14,167 WB cell towers; 65–70% capacity for days (COAI).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2. </a:t>
            </a:r>
            <a:r>
              <a:rPr sz="1050" b="1">
                <a:solidFill>
                  <a:srgbClr val="262626"/>
                </a:solidFill>
                <a:latin typeface="Arial"/>
              </a:rPr>
              <a:t>Text alerts miss the vulnerable: </a:t>
            </a:r>
            <a:r>
              <a:rPr sz="1050" b="0">
                <a:solidFill>
                  <a:srgbClr val="262626"/>
                </a:solidFill>
                <a:latin typeface="Arial"/>
              </a:rPr>
              <a:t>rural female literacy ~50.6% — silent SMS under-reaches disaster-prone belts.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3. </a:t>
            </a:r>
            <a:r>
              <a:rPr sz="1050" b="1">
                <a:solidFill>
                  <a:srgbClr val="262626"/>
                </a:solidFill>
                <a:latin typeface="Arial"/>
              </a:rPr>
              <a:t>Language exclusion: </a:t>
            </a:r>
            <a:r>
              <a:rPr sz="1050" b="0">
                <a:solidFill>
                  <a:srgbClr val="262626"/>
                </a:solidFill>
                <a:latin typeface="Arial"/>
              </a:rPr>
              <a:t>~90% of rural India communicates only in its mother tongue (22 scheduled languages).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4. </a:t>
            </a:r>
            <a:r>
              <a:rPr sz="1050" b="1">
                <a:solidFill>
                  <a:srgbClr val="262626"/>
                </a:solidFill>
                <a:latin typeface="Arial"/>
              </a:rPr>
              <a:t>Voice is too heavy for weak links: </a:t>
            </a:r>
            <a:r>
              <a:rPr sz="1050" b="0">
                <a:solidFill>
                  <a:srgbClr val="262626"/>
                </a:solidFill>
                <a:latin typeface="Arial"/>
              </a:rPr>
              <a:t>raw voice is 64,000 bps; even NATO’s MELPe needs 600 bps.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7863840" y="3474720"/>
            <a:ext cx="3931920" cy="1298448"/>
          </a:xfrm>
          <a:prstGeom prst="roundRect">
            <a:avLst/>
          </a:prstGeom>
          <a:solidFill>
            <a:srgbClr val="FDF3EC"/>
          </a:solidFill>
          <a:ln w="190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C55A11"/>
                </a:solidFill>
                <a:latin typeface="Arial"/>
              </a:rPr>
              <a:t>USP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1. </a:t>
            </a:r>
            <a:r>
              <a:rPr sz="1100" b="1">
                <a:solidFill>
                  <a:srgbClr val="262626"/>
                </a:solidFill>
                <a:latin typeface="Arial"/>
              </a:rPr>
              <a:t>Text is the codec — 169× less than cellular voice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2. </a:t>
            </a:r>
            <a:r>
              <a:rPr sz="1100" b="1">
                <a:solidFill>
                  <a:srgbClr val="262626"/>
                </a:solidFill>
                <a:latin typeface="Arial"/>
              </a:rPr>
              <a:t>Voice through any radio — 0.3 s of sound per sentence (AFSK)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274320" y="4736592"/>
            <a:ext cx="115214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F3864"/>
                </a:solidFill>
                <a:latin typeface="Arial"/>
              </a:rPr>
              <a:t>How iTantra Solves It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1. </a:t>
            </a:r>
            <a:r>
              <a:rPr sz="1050" b="1">
                <a:solidFill>
                  <a:srgbClr val="262626"/>
                </a:solidFill>
                <a:latin typeface="Arial"/>
              </a:rPr>
              <a:t>On-device STT, pause-aware: </a:t>
            </a:r>
            <a:r>
              <a:rPr sz="1050" b="0">
                <a:solidFill>
                  <a:srgbClr val="262626"/>
                </a:solidFill>
                <a:latin typeface="Arial"/>
              </a:rPr>
              <a:t>IndicConformer int8 (MIT) ×9 + Whisper English; Silero VAD streams sentences mid-hold — fully offline.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2. </a:t>
            </a:r>
            <a:r>
              <a:rPr sz="1050" b="1">
                <a:solidFill>
                  <a:srgbClr val="262626"/>
                </a:solidFill>
                <a:latin typeface="Arial"/>
              </a:rPr>
              <a:t>VarnaCode over any bearer: </a:t>
            </a:r>
            <a:r>
              <a:rPr sz="1050" b="0">
                <a:solidFill>
                  <a:srgbClr val="262626"/>
                </a:solidFill>
                <a:latin typeface="Arial"/>
              </a:rPr>
              <a:t>4.45–5.41 bits/char measured, beats Unishox2/SCSU — ~45 B/sentence via Wi-Fi · Bluetooth · ₹1,650 LoRa (IN865).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3. </a:t>
            </a:r>
            <a:r>
              <a:rPr sz="1050" b="1">
                <a:solidFill>
                  <a:srgbClr val="262626"/>
                </a:solidFill>
                <a:latin typeface="Arial"/>
              </a:rPr>
              <a:t>Natural voice out: </a:t>
            </a:r>
            <a:r>
              <a:rPr sz="1050" b="0">
                <a:solidFill>
                  <a:srgbClr val="262626"/>
                </a:solidFill>
                <a:latin typeface="Arial"/>
              </a:rPr>
              <a:t>AI4Bharat FastPitch + Piper TTS (MIT), sentence-streamed; eSpeak-NG fallback — never silent.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4. </a:t>
            </a:r>
            <a:r>
              <a:rPr sz="1050" b="1">
                <a:solidFill>
                  <a:srgbClr val="262626"/>
                </a:solidFill>
                <a:latin typeface="Arial"/>
              </a:rPr>
              <a:t>Alert mode + walkie-talkie loop: </a:t>
            </a:r>
            <a:r>
              <a:rPr sz="1050" b="0">
                <a:solidFill>
                  <a:srgbClr val="262626"/>
                </a:solidFill>
                <a:latin typeface="Arial"/>
              </a:rPr>
              <a:t>priority frames at max volume, non-interruptible; push-to-talk STT ↔ TTS; app off = normal phone.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5. </a:t>
            </a:r>
            <a:r>
              <a:rPr sz="1050" b="1">
                <a:solidFill>
                  <a:srgbClr val="262626"/>
                </a:solidFill>
                <a:latin typeface="Arial"/>
              </a:rPr>
              <a:t>AES-GCM encrypted: </a:t>
            </a:r>
            <a:r>
              <a:rPr sz="1050" b="0">
                <a:solidFill>
                  <a:srgbClr val="262626"/>
                </a:solidFill>
                <a:latin typeface="Arial"/>
              </a:rPr>
              <a:t>an encrypted sentence is 73 B — still 100× under cellular voice; header tampering fails authentication.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6. </a:t>
            </a:r>
            <a:r>
              <a:rPr sz="1050" b="1">
                <a:solidFill>
                  <a:srgbClr val="262626"/>
                </a:solidFill>
                <a:latin typeface="Arial"/>
              </a:rPr>
              <a:t>Prosody survives the bottleneck: </a:t>
            </a:r>
            <a:r>
              <a:rPr sz="1050" b="0">
                <a:solidFill>
                  <a:srgbClr val="262626"/>
                </a:solidFill>
                <a:latin typeface="Arial"/>
              </a:rPr>
              <a:t>a 1-byte urgency code — panic is spoken fast, loud, twice at the far end (STCTS spends 312–592 bps; we spend 8 bits).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7. </a:t>
            </a:r>
            <a:r>
              <a:rPr sz="1050" b="1">
                <a:solidFill>
                  <a:srgbClr val="262626"/>
                </a:solidFill>
                <a:latin typeface="Arial"/>
              </a:rPr>
              <a:t>Works through ANY radio: </a:t>
            </a:r>
            <a:r>
              <a:rPr sz="1050" b="0">
                <a:solidFill>
                  <a:srgbClr val="262626"/>
                </a:solidFill>
                <a:latin typeface="Arial"/>
              </a:rPr>
              <a:t>AFSK software modem turns a frame into 0.3 s of audio — hold the phone to a ₹500 analog walkie-talkie or ham set; survives 6 dB SNR.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256032" y="987552"/>
            <a:ext cx="52120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 b="1">
                <a:solidFill>
                  <a:srgbClr val="1F3864"/>
                </a:solidFill>
                <a:latin typeface="Arial"/>
              </a:rPr>
              <a:t>Technologies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Native Kotlin + Jetpack Compose; </a:t>
            </a:r>
            <a:r>
              <a:rPr sz="1100" b="0">
                <a:solidFill>
                  <a:srgbClr val="262626"/>
                </a:solidFill>
                <a:latin typeface="Arial"/>
              </a:rPr>
              <a:t>foreground service (mic type) + audio-focus discipline for Android 14+; APK 54 MB incl. full speech runtime.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sherpa-onnx v1.13.6 (Apache-2.0): </a:t>
            </a:r>
            <a:r>
              <a:rPr sz="1100" b="0">
                <a:solidFill>
                  <a:srgbClr val="262626"/>
                </a:solidFill>
                <a:latin typeface="Arial"/>
              </a:rPr>
              <a:t>one JNI surface for STT + TTS + VAD — 14.5k★, active.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STT: </a:t>
            </a:r>
            <a:r>
              <a:rPr sz="1100" b="0">
                <a:solidFill>
                  <a:srgbClr val="262626"/>
                </a:solidFill>
                <a:latin typeface="Arial"/>
              </a:rPr>
              <a:t>IndicConformer int8 ONNX (MIT) ×9 languages + whisper.cpp tiny for English.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TTS: </a:t>
            </a:r>
            <a:r>
              <a:rPr sz="1100" b="0">
                <a:solidFill>
                  <a:srgbClr val="262626"/>
                </a:solidFill>
                <a:latin typeface="Arial"/>
              </a:rPr>
              <a:t>Piper VITS ×6 + AI4Bharat FastPitch+HiFi-GAN ONNX ×4; eSpeak-NG fallback.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Silero VAD (~2 MB) </a:t>
            </a:r>
            <a:r>
              <a:rPr sz="1100" b="0">
                <a:solidFill>
                  <a:srgbClr val="262626"/>
                </a:solidFill>
                <a:latin typeface="Arial"/>
              </a:rPr>
              <a:t>sentence chunking · Oboe (AAudio) 16 kHz low-latency audio.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Transports: </a:t>
            </a:r>
            <a:r>
              <a:rPr sz="1100" b="0">
                <a:solidFill>
                  <a:srgbClr val="262626"/>
                </a:solidFill>
                <a:latin typeface="Arial"/>
              </a:rPr>
              <a:t>NSD/mDNS + TCP · Bluetooth RFCOMM · ESP32+SX127x LoRa (IN865, 1% duty).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Protocol: </a:t>
            </a:r>
            <a:r>
              <a:rPr sz="1100" b="0">
                <a:solidFill>
                  <a:srgbClr val="262626"/>
                </a:solidFill>
                <a:latin typeface="Arial"/>
              </a:rPr>
              <a:t>VarnaCode + iTantra Frame [lang · priority · seq · CRC-16] — bearer-agnostic, Kotlin↔Python byte-identical.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Compliance: </a:t>
            </a:r>
            <a:r>
              <a:rPr sz="1100" b="0">
                <a:solidFill>
                  <a:srgbClr val="262626"/>
                </a:solidFill>
                <a:latin typeface="Arial"/>
              </a:rPr>
              <a:t>100% open-source (NC/proprietary SDKs excluded) · zero network calls.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250" b="1">
                <a:solidFill>
                  <a:srgbClr val="1F3864"/>
                </a:solidFill>
                <a:latin typeface="Arial"/>
              </a:rPr>
              <a:t>Methodology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P0 desktop twin measured first </a:t>
            </a:r>
            <a:r>
              <a:rPr sz="1100" b="0">
                <a:solidFill>
                  <a:srgbClr val="262626"/>
                </a:solidFill>
                <a:latin typeface="Arial"/>
              </a:rPr>
              <a:t>(CER · RTF · compression) → P1–P5: Android spine → 10 languages + alerts → Evaluation Mode → LoRa bridge + AES-GCM.</a:t>
            </a:r>
          </a:p>
          <a:p>
            <a:pPr>
              <a:lnSpc>
                <a:spcPct val="102000"/>
              </a:lnSpc>
              <a:spcAft>
                <a:spcPts val="350"/>
              </a:spcAft>
            </a:pPr>
            <a:r>
              <a:rPr sz="1100" b="0">
                <a:solidFill>
                  <a:srgbClr val="262626"/>
                </a:solidFill>
                <a:latin typeface="Arial"/>
              </a:rPr>
              <a:t>• </a:t>
            </a:r>
            <a:r>
              <a:rPr sz="1100" b="1">
                <a:solidFill>
                  <a:srgbClr val="262626"/>
                </a:solidFill>
                <a:latin typeface="Arial"/>
              </a:rPr>
              <a:t>Wave-2 features (built, tested): </a:t>
            </a:r>
            <a:r>
              <a:rPr sz="1100" b="0">
                <a:solidFill>
                  <a:srgbClr val="262626"/>
                </a:solidFill>
                <a:latin typeface="Arial"/>
              </a:rPr>
              <a:t>1-byte prosody code · AFSK any-radio modem · offline digital roll-call · CAP/SACHET last-mile bridge.</a:t>
            </a:r>
          </a:p>
        </p:txBody>
      </p:sp>
      <p:pic>
        <p:nvPicPr>
          <p:cNvPr id="17411" name="Picture 17410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1188720"/>
            <a:ext cx="5989320" cy="3083711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5669280" y="4480560"/>
            <a:ext cx="5989320" cy="141732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Arial"/>
              </a:rPr>
              <a:t>Measured, not estimated — desktop CPU, real models</a:t>
            </a:r>
          </a:p>
          <a:p>
            <a:pPr algn="ctr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Real human speech (FLEURS, int8 140 MB packs): CER hi 2.9% · bn 4.0% · te 7.8% · ml 9.2% · ta 13.9% · RTF 0.06 · TTS RTF 0.049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rial"/>
              </a:rPr>
              <a:t>VarnaCode 4.45–5.41 bits/char beats Unishox2/SCSU on all 10 languages (measured head-to-head) · 222 assertions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Arial"/>
              </a:rPr>
              <a:t>AES-GCM encrypted sentence 73 B · Kotlin ↔ Python wire-compatible · APK loop proven on emulators incl. ALERT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43000"/>
            <a:ext cx="7543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400" b="1">
                <a:solidFill>
                  <a:srgbClr val="1F3864"/>
                </a:solidFill>
                <a:latin typeface="Arial"/>
              </a:rPr>
              <a:t>1. On-device speed on budget phones</a:t>
            </a:r>
          </a:p>
          <a:p>
            <a:pPr>
              <a:lnSpc>
                <a:spcPct val="105000"/>
              </a:lnSpc>
              <a:spcAft>
                <a:spcPts val="250"/>
              </a:spcAft>
            </a:pPr>
            <a:r>
              <a:rPr sz="1200" b="1">
                <a:solidFill>
                  <a:srgbClr val="262626"/>
                </a:solidFill>
                <a:latin typeface="Arial"/>
              </a:rPr>
              <a:t>Problem: </a:t>
            </a:r>
            <a:r>
              <a:rPr sz="1200" b="0">
                <a:solidFill>
                  <a:srgbClr val="262626"/>
                </a:solidFill>
                <a:latin typeface="Arial"/>
              </a:rPr>
              <a:t>desktop/ARM-proxy RTF only; a budget phone may run tighter.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Arial"/>
              </a:rPr>
              <a:t>Approach: </a:t>
            </a:r>
            <a:r>
              <a:rPr sz="1200" b="0">
                <a:solidFill>
                  <a:srgbClr val="262626"/>
                </a:solidFill>
                <a:latin typeface="Arial"/>
              </a:rPr>
              <a:t>P0 measured RTF 0.049–0.119 (8–20× real-time headroom); int8 ladder + smaller voices + streaming-decode overlap if a budget phone runs tight. Edge Conformers already hit RTF 0.19.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2624328"/>
            <a:ext cx="7543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400" b="1">
                <a:solidFill>
                  <a:srgbClr val="1F3864"/>
                </a:solidFill>
                <a:latin typeface="Arial"/>
              </a:rPr>
              <a:t>2. Community ONNX conversions</a:t>
            </a:r>
          </a:p>
          <a:p>
            <a:pPr>
              <a:lnSpc>
                <a:spcPct val="105000"/>
              </a:lnSpc>
              <a:spcAft>
                <a:spcPts val="250"/>
              </a:spcAft>
            </a:pPr>
            <a:r>
              <a:rPr sz="1200" b="1">
                <a:solidFill>
                  <a:srgbClr val="262626"/>
                </a:solidFill>
                <a:latin typeface="Arial"/>
              </a:rPr>
              <a:t>Problem: </a:t>
            </a:r>
            <a:r>
              <a:rPr sz="1200" b="0">
                <a:solidFill>
                  <a:srgbClr val="262626"/>
                </a:solidFill>
                <a:latin typeface="Arial"/>
              </a:rPr>
              <a:t>sherpa-onnx IndicConformer wrappers are community-made, not official k2-fsa artifacts.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Arial"/>
              </a:rPr>
              <a:t>Approach: </a:t>
            </a:r>
            <a:r>
              <a:rPr sz="1200" b="0">
                <a:solidFill>
                  <a:srgbClr val="262626"/>
                </a:solidFill>
                <a:latin typeface="Arial"/>
              </a:rPr>
              <a:t>Per-language QA budgeted; hard fallback = direct ONNX Runtime Mobile on AI4Bharat’s official int8 export — more glue, zero conversion risk.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20040" y="4105656"/>
            <a:ext cx="7543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50"/>
              </a:spcAft>
            </a:pPr>
            <a:r>
              <a:rPr sz="1400" b="1">
                <a:solidFill>
                  <a:srgbClr val="1F3864"/>
                </a:solidFill>
                <a:latin typeface="Arial"/>
              </a:rPr>
              <a:t>3. STT errors become spoken misinformation</a:t>
            </a:r>
          </a:p>
          <a:p>
            <a:pPr>
              <a:lnSpc>
                <a:spcPct val="105000"/>
              </a:lnSpc>
              <a:spcAft>
                <a:spcPts val="250"/>
              </a:spcAft>
            </a:pPr>
            <a:r>
              <a:rPr sz="1200" b="1">
                <a:solidFill>
                  <a:srgbClr val="262626"/>
                </a:solidFill>
                <a:latin typeface="Arial"/>
              </a:rPr>
              <a:t>Problem: </a:t>
            </a:r>
            <a:r>
              <a:rPr sz="1200" b="0">
                <a:solidFill>
                  <a:srgbClr val="262626"/>
                </a:solidFill>
                <a:latin typeface="Arial"/>
              </a:rPr>
              <a:t>a mis-recognition would be confidently re-spoken at the far end.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Arial"/>
              </a:rPr>
              <a:t>Approach: </a:t>
            </a:r>
            <a:r>
              <a:rPr sz="1200" b="0">
                <a:solidFill>
                  <a:srgbClr val="262626"/>
                </a:solidFill>
                <a:latin typeface="Arial"/>
              </a:rPr>
              <a:t>Confidence gate (“repeat that?”), transcript shown on both screens, and a pronunciation lexicon for the highest-stakes alert content; 5-language real-speech CER 2.9–13.9% measured.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20040" y="5623560"/>
            <a:ext cx="7543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1F3864"/>
                </a:solidFill>
                <a:latin typeface="Arial"/>
              </a:rPr>
              <a:t>Also handled: </a:t>
            </a:r>
            <a:r>
              <a:rPr sz="1050" b="0">
                <a:solidFill>
                  <a:srgbClr val="262626"/>
                </a:solidFill>
                <a:latin typeface="Arial"/>
              </a:rPr>
              <a:t>Wi-Fi Direct flakiness (hotspot+NSD default, BT RFCOMM backup) · Android bg-audio policy (fg-service built first, compiling) · TTS export scope (4 languages, NVIDIA-Riva recipe, eSpeak-NG meanwhile) · noise: denoiser measured and rejected (hurts Conformer CER) — evidence-driven.</a:t>
            </a:r>
          </a:p>
        </p:txBody>
      </p:sp>
      <p:pic>
        <p:nvPicPr>
          <p:cNvPr id="17414" name="Picture 17413" descr="feasibility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960120"/>
            <a:ext cx="3703320" cy="5308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097280"/>
            <a:ext cx="5623560" cy="2377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1F3864"/>
                </a:solidFill>
                <a:latin typeface="Arial"/>
              </a:rPr>
              <a:t>Potential Impacts</a:t>
            </a:r>
          </a:p>
          <a:p>
            <a:pPr>
              <a:lnSpc>
                <a:spcPct val="103000"/>
              </a:lnSpc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Arial"/>
              </a:rPr>
              <a:t>• </a:t>
            </a:r>
            <a:r>
              <a:rPr sz="1050" b="1">
                <a:solidFill>
                  <a:srgbClr val="262626"/>
                </a:solidFill>
                <a:latin typeface="Arial"/>
              </a:rPr>
              <a:t>Last-mile inclusion: </a:t>
            </a:r>
            <a:r>
              <a:rPr sz="1050" b="0">
                <a:solidFill>
                  <a:srgbClr val="262626"/>
                </a:solidFill>
                <a:latin typeface="Arial"/>
              </a:rPr>
              <a:t>voice-native comms for the ~50% of rural women and 1-in-3 rural Indians whom text alerts miss — in their own language.</a:t>
            </a:r>
          </a:p>
          <a:p>
            <a:pPr>
              <a:lnSpc>
                <a:spcPct val="103000"/>
              </a:lnSpc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Arial"/>
              </a:rPr>
              <a:t>• </a:t>
            </a:r>
            <a:r>
              <a:rPr sz="1050" b="1">
                <a:solidFill>
                  <a:srgbClr val="262626"/>
                </a:solidFill>
                <a:latin typeface="Arial"/>
              </a:rPr>
              <a:t>Completes ISRO’s disaster stack: </a:t>
            </a:r>
            <a:r>
              <a:rPr sz="1050" b="0">
                <a:solidFill>
                  <a:srgbClr val="262626"/>
                </a:solidFill>
                <a:latin typeface="Arial"/>
              </a:rPr>
              <a:t>the multilingual voice layer for GSAT mobile-radio / VSAT–SDMA low-bitrate links.</a:t>
            </a:r>
          </a:p>
          <a:p>
            <a:pPr>
              <a:lnSpc>
                <a:spcPct val="103000"/>
              </a:lnSpc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Arial"/>
              </a:rPr>
              <a:t>• </a:t>
            </a:r>
            <a:r>
              <a:rPr sz="1050" b="1">
                <a:solidFill>
                  <a:srgbClr val="262626"/>
                </a:solidFill>
                <a:latin typeface="Arial"/>
              </a:rPr>
              <a:t>Resilience economics: </a:t>
            </a:r>
            <a:r>
              <a:rPr sz="1050" b="0">
                <a:solidFill>
                  <a:srgbClr val="262626"/>
                </a:solidFill>
                <a:latin typeface="Arial"/>
              </a:rPr>
              <a:t>phones + ₹1,650 LoRa node vs ₹8,000–25,000 hardware walkie-talkie pairs.</a:t>
            </a:r>
          </a:p>
          <a:p>
            <a:pPr>
              <a:lnSpc>
                <a:spcPct val="103000"/>
              </a:lnSpc>
              <a:spcAft>
                <a:spcPts val="400"/>
              </a:spcAft>
            </a:pPr>
            <a:r>
              <a:rPr sz="1050" b="0">
                <a:solidFill>
                  <a:srgbClr val="262626"/>
                </a:solidFill>
                <a:latin typeface="Arial"/>
              </a:rPr>
              <a:t>• </a:t>
            </a:r>
            <a:r>
              <a:rPr sz="1050" b="1">
                <a:solidFill>
                  <a:srgbClr val="262626"/>
                </a:solidFill>
                <a:latin typeface="Arial"/>
              </a:rPr>
              <a:t>Two-way beats broadcast: </a:t>
            </a:r>
            <a:r>
              <a:rPr sz="1050" b="0">
                <a:solidFill>
                  <a:srgbClr val="262626"/>
                </a:solidFill>
                <a:latin typeface="Arial"/>
              </a:rPr>
              <a:t>Kerala 2018 — 40+ ham operators aided 2,000+ people when towers died; iTantra puts that capability on every phone.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6172200" y="932688"/>
            <a:ext cx="5715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4000" b="1">
                <a:solidFill>
                  <a:srgbClr val="C55A11"/>
                </a:solidFill>
                <a:latin typeface="Arial"/>
              </a:rPr>
              <a:t>45 bytes</a:t>
            </a:r>
            <a:r>
              <a:rPr sz="1600" b="1">
                <a:solidFill>
                  <a:srgbClr val="262626"/>
                </a:solidFill>
                <a:latin typeface="Arial"/>
              </a:rPr>
              <a:t>  = one spoken sentence</a:t>
            </a:r>
          </a:p>
          <a:p>
            <a:pPr algn="ctr"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Arial"/>
              </a:rPr>
              <a:t>vs 7,625 B cellular (AMR-NB) · 40,000 B raw voice (G.711)</a:t>
            </a:r>
          </a:p>
        </p:txBody>
      </p:sp>
      <p:pic>
        <p:nvPicPr>
          <p:cNvPr id="17412" name="Picture 17411" descr="chart-by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938528"/>
            <a:ext cx="5212080" cy="2842953"/>
          </a:xfrm>
          <a:prstGeom prst="rect">
            <a:avLst/>
          </a:prstGeom>
        </p:spPr>
      </p:pic>
      <p:sp>
        <p:nvSpPr>
          <p:cNvPr id="17413" name="Rounded Rectangle 17412"/>
          <p:cNvSpPr/>
          <p:nvPr/>
        </p:nvSpPr>
        <p:spPr>
          <a:xfrm>
            <a:off x="6172200" y="4873752"/>
            <a:ext cx="5715000" cy="1389888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F3864"/>
                </a:solidFill>
                <a:latin typeface="Arial"/>
              </a:rPr>
              <a:t>Benefits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Social: </a:t>
            </a:r>
            <a:r>
              <a:rPr sz="1000" b="0">
                <a:solidFill>
                  <a:srgbClr val="262626"/>
                </a:solidFill>
                <a:latin typeface="Arial"/>
              </a:rPr>
              <a:t>literacy-independent · 10 languages ≈ 85%+ of India · voice + transcript serve both impairments.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Economic &amp; strategic: </a:t>
            </a:r>
            <a:r>
              <a:rPr sz="1000" b="0">
                <a:solidFill>
                  <a:srgbClr val="262626"/>
                </a:solidFill>
                <a:latin typeface="Arial"/>
              </a:rPr>
              <a:t>zero recurring cost (no SIM/server) · sovereign: Indian models, IN865, no foreign cloud.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Offline roll-call: </a:t>
            </a:r>
            <a:r>
              <a:rPr sz="1000" b="0">
                <a:solidFill>
                  <a:srgbClr val="262626"/>
                </a:solidFill>
                <a:latin typeface="Arial"/>
              </a:rPr>
              <a:t>a 9-byte ACK per family = evacuation headcount with no internet.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rial"/>
              </a:rPr>
              <a:t>• </a:t>
            </a:r>
            <a:r>
              <a:rPr sz="1000" b="1">
                <a:solidFill>
                  <a:srgbClr val="262626"/>
                </a:solidFill>
                <a:latin typeface="Arial"/>
              </a:rPr>
              <a:t>Operational: </a:t>
            </a:r>
            <a:r>
              <a:rPr sz="1000" b="0">
                <a:solidFill>
                  <a:srgbClr val="262626"/>
                </a:solidFill>
                <a:latin typeface="Arial"/>
              </a:rPr>
              <a:t>int8-efficient; LoRa nodes run days on a power bank — solar-deployable.</a:t>
            </a:r>
          </a:p>
        </p:txBody>
      </p:sp>
      <p:pic>
        <p:nvPicPr>
          <p:cNvPr id="17414" name="Picture 17413" descr="chart-bitsch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584448"/>
            <a:ext cx="5074920" cy="2768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Arial"/>
              </a:rPr>
              <a:t>Null
Pointers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005840"/>
            <a:ext cx="11475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1. </a:t>
            </a:r>
            <a:r>
              <a:rPr sz="1150" b="1">
                <a:solidFill>
                  <a:srgbClr val="C55A11"/>
                </a:solidFill>
                <a:latin typeface="Arial"/>
              </a:rPr>
              <a:t>Project repository: </a:t>
            </a:r>
            <a:r>
              <a:rPr sz="1150" b="0">
                <a:solidFill>
                  <a:srgbClr val="262626"/>
                </a:solidFill>
                <a:latin typeface="Arial"/>
              </a:rPr>
              <a:t>Kotlin app + evaluation harness + firmware — private; jury access on submission. </a:t>
            </a:r>
            <a:r>
              <a:rPr sz="1150" b="0">
                <a:solidFill>
                  <a:srgbClr val="0563C1"/>
                </a:solidFill>
                <a:latin typeface="Arial"/>
                <a:hlinkClick r:id="rId4"/>
              </a:rPr>
              <a:t>github.com/satyam-mishra-dev/itantra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2. </a:t>
            </a:r>
            <a:r>
              <a:rPr sz="1150" b="1">
                <a:solidFill>
                  <a:srgbClr val="1F3864"/>
                </a:solidFill>
                <a:latin typeface="Arial"/>
              </a:rPr>
              <a:t>Cyclone Amphan outage: </a:t>
            </a:r>
            <a:r>
              <a:rPr sz="1150" b="0">
                <a:solidFill>
                  <a:srgbClr val="262626"/>
                </a:solidFill>
                <a:latin typeface="Arial"/>
              </a:rPr>
              <a:t>~7,000 of 14,167 WB towers down; networks at 65–70% capacity for days (COAI). </a:t>
            </a:r>
            <a:r>
              <a:rPr sz="1150" b="0">
                <a:solidFill>
                  <a:srgbClr val="0563C1"/>
                </a:solidFill>
                <a:latin typeface="Arial"/>
                <a:hlinkClick r:id="rId5"/>
              </a:rPr>
              <a:t>deccanherald.com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3. </a:t>
            </a:r>
            <a:r>
              <a:rPr sz="1150" b="1">
                <a:solidFill>
                  <a:srgbClr val="1F3864"/>
                </a:solidFill>
                <a:latin typeface="Arial"/>
              </a:rPr>
              <a:t>The bitrate math: </a:t>
            </a:r>
            <a:r>
              <a:rPr sz="1150" b="0">
                <a:solidFill>
                  <a:srgbClr val="262626"/>
                </a:solidFill>
                <a:latin typeface="Arial"/>
              </a:rPr>
              <a:t>MELPe 600 bps (NATO STANAG 4591) and Codec2 450 bps vs speech-as-text ≈ 107 bps. </a:t>
            </a:r>
            <a:r>
              <a:rPr sz="1150" b="0">
                <a:solidFill>
                  <a:srgbClr val="0563C1"/>
                </a:solidFill>
                <a:latin typeface="Arial"/>
                <a:hlinkClick r:id="rId6"/>
              </a:rPr>
              <a:t>melp.org · github.com/drowe67/codec2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4. </a:t>
            </a:r>
            <a:r>
              <a:rPr sz="1150" b="1">
                <a:solidFill>
                  <a:srgbClr val="1F3864"/>
                </a:solidFill>
                <a:latin typeface="Arial"/>
              </a:rPr>
              <a:t>Semantic communications (foundational survey): </a:t>
            </a:r>
            <a:r>
              <a:rPr sz="1150" b="0">
                <a:solidFill>
                  <a:srgbClr val="262626"/>
                </a:solidFill>
                <a:latin typeface="Arial"/>
              </a:rPr>
              <a:t>Qin, Tao, Lu, Tong &amp; Li, 2021. </a:t>
            </a:r>
            <a:r>
              <a:rPr sz="1150" b="0">
                <a:solidFill>
                  <a:srgbClr val="0563C1"/>
                </a:solidFill>
                <a:latin typeface="Arial"/>
                <a:hlinkClick r:id="rId7"/>
              </a:rPr>
              <a:t>arxiv.org/abs/2201.01389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5. </a:t>
            </a:r>
            <a:r>
              <a:rPr sz="1150" b="1">
                <a:solidFill>
                  <a:srgbClr val="1F3864"/>
                </a:solidFill>
                <a:latin typeface="Arial"/>
              </a:rPr>
              <a:t>DeepSC-ST: </a:t>
            </a:r>
            <a:r>
              <a:rPr sz="1150" b="0">
                <a:solidFill>
                  <a:srgbClr val="262626"/>
                </a:solidFill>
                <a:latin typeface="Arial"/>
              </a:rPr>
              <a:t>speech transceiver transmitting recognition-domain features, IEEE Trans. Wireless Comm. 2023. </a:t>
            </a:r>
            <a:r>
              <a:rPr sz="1150" b="0">
                <a:solidFill>
                  <a:srgbClr val="0563C1"/>
                </a:solidFill>
                <a:latin typeface="Arial"/>
                <a:hlinkClick r:id="rId8"/>
              </a:rPr>
              <a:t>doi.org/10.1109/TWC.2023.3240969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6. </a:t>
            </a:r>
            <a:r>
              <a:rPr sz="1150" b="1">
                <a:solidFill>
                  <a:srgbClr val="1F3864"/>
                </a:solidFill>
                <a:latin typeface="Arial"/>
              </a:rPr>
              <a:t>STT over low-data-rate networks: </a:t>
            </a:r>
            <a:r>
              <a:rPr sz="1150" b="0">
                <a:solidFill>
                  <a:srgbClr val="262626"/>
                </a:solidFill>
                <a:latin typeface="Arial"/>
              </a:rPr>
              <a:t>up to 94% latency reduction vs compressed audio (2025). </a:t>
            </a:r>
            <a:r>
              <a:rPr sz="1150" b="0">
                <a:solidFill>
                  <a:srgbClr val="0563C1"/>
                </a:solidFill>
                <a:latin typeface="Arial"/>
                <a:hlinkClick r:id="rId9"/>
              </a:rPr>
              <a:t>researchgate.net/394380603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7. </a:t>
            </a:r>
            <a:r>
              <a:rPr sz="1150" b="1">
                <a:solidFill>
                  <a:srgbClr val="1F3864"/>
                </a:solidFill>
                <a:latin typeface="Arial"/>
              </a:rPr>
              <a:t>IndicConformer (AI4Bharat): </a:t>
            </a:r>
            <a:r>
              <a:rPr sz="1150" b="0">
                <a:solidFill>
                  <a:srgbClr val="262626"/>
                </a:solidFill>
                <a:latin typeface="Arial"/>
              </a:rPr>
              <a:t>MIT, all 22 Indian languages, official int8 ONNX; Hindi WER 13.2 (Vaani). </a:t>
            </a:r>
            <a:r>
              <a:rPr sz="1150" b="0">
                <a:solidFill>
                  <a:srgbClr val="0563C1"/>
                </a:solidFill>
                <a:latin typeface="Arial"/>
                <a:hlinkClick r:id="rId10"/>
              </a:rPr>
              <a:t>huggingface.co/ai4bharat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8. </a:t>
            </a:r>
            <a:r>
              <a:rPr sz="1150" b="1">
                <a:solidFill>
                  <a:srgbClr val="1F3864"/>
                </a:solidFill>
                <a:latin typeface="Arial"/>
              </a:rPr>
              <a:t>AI4Bharat Indic-TTS: </a:t>
            </a:r>
            <a:r>
              <a:rPr sz="1150" b="0">
                <a:solidFill>
                  <a:srgbClr val="262626"/>
                </a:solidFill>
                <a:latin typeface="Arial"/>
              </a:rPr>
              <a:t>FastPitch + HiFi-GAN, MIT, 13 Indic languages — beats prior open baselines. </a:t>
            </a:r>
            <a:r>
              <a:rPr sz="1150" b="0">
                <a:solidFill>
                  <a:srgbClr val="0563C1"/>
                </a:solidFill>
                <a:latin typeface="Arial"/>
                <a:hlinkClick r:id="rId11"/>
              </a:rPr>
              <a:t>arxiv.org/abs/2211.09536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9. </a:t>
            </a:r>
            <a:r>
              <a:rPr sz="1150" b="1">
                <a:solidFill>
                  <a:srgbClr val="1F3864"/>
                </a:solidFill>
                <a:latin typeface="Arial"/>
              </a:rPr>
              <a:t>CER, not WER, for Indic ASR: </a:t>
            </a:r>
            <a:r>
              <a:rPr sz="1150" b="0">
                <a:solidFill>
                  <a:srgbClr val="262626"/>
                </a:solidFill>
                <a:latin typeface="Arial"/>
              </a:rPr>
              <a:t>WER disproportionately punishes agglutinative languages. </a:t>
            </a:r>
            <a:r>
              <a:rPr sz="1150" b="0">
                <a:solidFill>
                  <a:srgbClr val="0563C1"/>
                </a:solidFill>
                <a:latin typeface="Arial"/>
                <a:hlinkClick r:id="rId12"/>
              </a:rPr>
              <a:t>arxiv.org/abs/2203.16601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10. </a:t>
            </a:r>
            <a:r>
              <a:rPr sz="1150" b="1">
                <a:solidFill>
                  <a:srgbClr val="1F3864"/>
                </a:solidFill>
                <a:latin typeface="Arial"/>
              </a:rPr>
              <a:t>WEA message-length study (2024): </a:t>
            </a:r>
            <a:r>
              <a:rPr sz="1150" b="0">
                <a:solidFill>
                  <a:srgbClr val="262626"/>
                </a:solidFill>
                <a:latin typeface="Arial"/>
              </a:rPr>
              <a:t>360-char alerts no better than 90-char (N=481) — validates the 45-byte design. </a:t>
            </a:r>
            <a:r>
              <a:rPr sz="1150" b="0">
                <a:solidFill>
                  <a:srgbClr val="0563C1"/>
                </a:solidFill>
                <a:latin typeface="Arial"/>
                <a:hlinkClick r:id="rId13"/>
              </a:rPr>
              <a:t>pmc.ncbi.nlm.nih.gov/PMC11424238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11. </a:t>
            </a:r>
            <a:r>
              <a:rPr sz="1150" b="1">
                <a:solidFill>
                  <a:srgbClr val="1F3864"/>
                </a:solidFill>
                <a:latin typeface="Arial"/>
              </a:rPr>
              <a:t>LSSC-ST semantic speech transmission (2025): </a:t>
            </a:r>
            <a:r>
              <a:rPr sz="1150" b="0">
                <a:solidFill>
                  <a:srgbClr val="262626"/>
                </a:solidFill>
                <a:latin typeface="Arial"/>
              </a:rPr>
              <a:t>needs an edge server; iTantra is fully offline. </a:t>
            </a:r>
            <a:r>
              <a:rPr sz="1150" b="0">
                <a:solidFill>
                  <a:srgbClr val="0563C1"/>
                </a:solidFill>
                <a:latin typeface="Arial"/>
                <a:hlinkClick r:id="rId14"/>
              </a:rPr>
              <a:t>arxiv.org/abs/2501.05859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262626"/>
                </a:solidFill>
                <a:latin typeface="Arial"/>
              </a:rPr>
              <a:t>12. </a:t>
            </a:r>
            <a:r>
              <a:rPr sz="1150" b="1">
                <a:solidFill>
                  <a:srgbClr val="1F3864"/>
                </a:solidFill>
                <a:latin typeface="Arial"/>
              </a:rPr>
              <a:t>IN865 LoRa legality: </a:t>
            </a:r>
            <a:r>
              <a:rPr sz="1150" b="0">
                <a:solidFill>
                  <a:srgbClr val="262626"/>
                </a:solidFill>
                <a:latin typeface="Arial"/>
              </a:rPr>
              <a:t>865–867 MHz license-free, 1% duty, 30 dBm — km-range at ₹1,650/node. </a:t>
            </a:r>
            <a:r>
              <a:rPr sz="1150" b="0">
                <a:solidFill>
                  <a:srgbClr val="0563C1"/>
                </a:solidFill>
                <a:latin typeface="Arial"/>
                <a:hlinkClick r:id="rId15"/>
              </a:rPr>
              <a:t>ensembletech.in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5541264"/>
            <a:ext cx="11475720" cy="658368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C55A11"/>
                </a:solidFill>
                <a:latin typeface="Arial"/>
              </a:rPr>
              <a:t>Already built: </a:t>
            </a:r>
            <a:r>
              <a:rPr sz="1150" b="1">
                <a:solidFill>
                  <a:srgbClr val="262626"/>
                </a:solidFill>
                <a:latin typeface="Arial"/>
              </a:rPr>
              <a:t>222 protocol assertions · real-speech CER 2.9% Hindi · 5 language packs converted · Android APK loop proven on emulators incl. ALERT · AES-GCM + prosody byte on the wire · LoRa firmware compiles · AFSK modem, roll-call, CAP bridge tested.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