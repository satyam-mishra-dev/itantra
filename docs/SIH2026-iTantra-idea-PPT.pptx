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satyam-mishra-dev/itantra" TargetMode="External"/><Relationship Id="rId5" Type="http://schemas.openxmlformats.org/officeDocument/2006/relationships/hyperlink" Target="https://www.deccanherald.com/india/cyclone-amphan-telecom-networks-operating-at-65-70-capacity-in-affected-districts-says-coai-840844.html" TargetMode="External"/><Relationship Id="rId6" Type="http://schemas.openxmlformats.org/officeDocument/2006/relationships/hyperlink" Target="https://github.com/drowe67/codec2" TargetMode="External"/><Relationship Id="rId7" Type="http://schemas.openxmlformats.org/officeDocument/2006/relationships/hyperlink" Target="https://arxiv.org/abs/2201.01389" TargetMode="External"/><Relationship Id="rId8" Type="http://schemas.openxmlformats.org/officeDocument/2006/relationships/hyperlink" Target="https://doi.org/10.1109/TWC.2023.3240969" TargetMode="External"/><Relationship Id="rId9" Type="http://schemas.openxmlformats.org/officeDocument/2006/relationships/hyperlink" Target="https://www.researchgate.net/publication/394380603_Voice_over_Low_Data_Rate_Networks_Using_Speech-to-Text_and_Semantic_Compression" TargetMode="External"/><Relationship Id="rId10" Type="http://schemas.openxmlformats.org/officeDocument/2006/relationships/hyperlink" Target="https://huggingface.co/ai4bharat/indic-conformer-600m-multilingual" TargetMode="External"/><Relationship Id="rId11" Type="http://schemas.openxmlformats.org/officeDocument/2006/relationships/hyperlink" Target="https://arxiv.org/abs/2211.09536" TargetMode="External"/><Relationship Id="rId12" Type="http://schemas.openxmlformats.org/officeDocument/2006/relationships/hyperlink" Target="https://arxiv.org/abs/2203.16601" TargetMode="External"/><Relationship Id="rId13" Type="http://schemas.openxmlformats.org/officeDocument/2006/relationships/hyperlink" Target="https://en.wikipedia.org/wiki/J-Alert" TargetMode="External"/><Relationship Id="rId14" Type="http://schemas.openxmlformats.org/officeDocument/2006/relationships/hyperlink" Target="https://www.ensembletech.in/lora-frequency-bands-indi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Problem Statement ID – </a:t>
            </a:r>
            <a:r>
              <a:rPr sz="1800" b="0">
                <a:solidFill>
                  <a:srgbClr val="262626"/>
                </a:solidFill>
                <a:latin typeface="Arial"/>
              </a:rPr>
              <a:t>SIH26173</a:t>
            </a:r>
            <a:endParaRPr lang="en-US" dirty="0"/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Problem Statement Title- </a:t>
            </a:r>
            <a:r>
              <a:rPr sz="1800" b="0">
                <a:solidFill>
                  <a:srgbClr val="262626"/>
                </a:solidFill>
                <a:latin typeface="Arial"/>
              </a:rPr>
              <a:t>iTantra – Indian Multilingual TTS &amp; STT Aided Neural Transceiver Radio Access for low bitrate links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Theme- </a:t>
            </a:r>
            <a:r>
              <a:rPr sz="1800" b="0">
                <a:solidFill>
                  <a:srgbClr val="262626"/>
                </a:solidFill>
                <a:latin typeface="Arial"/>
              </a:rPr>
              <a:t>Disaster Management / Miscellaneous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PS Category- </a:t>
            </a:r>
            <a:r>
              <a:rPr sz="1800" b="0">
                <a:solidFill>
                  <a:srgbClr val="262626"/>
                </a:solidFill>
                <a:latin typeface="Arial"/>
              </a:rPr>
              <a:t>Software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Team ID- </a:t>
            </a:r>
            <a:r>
              <a:rPr sz="1800" b="0">
                <a:solidFill>
                  <a:srgbClr val="262626"/>
                </a:solidFill>
                <a:latin typeface="Arial"/>
              </a:rPr>
              <a:t>______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Team Name- </a:t>
            </a:r>
            <a:r>
              <a:rPr sz="1800" b="0">
                <a:solidFill>
                  <a:srgbClr val="262626"/>
                </a:solidFill>
                <a:latin typeface="Arial"/>
              </a:rPr>
              <a:t>Null Pointers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91440" y="54864"/>
            <a:ext cx="1325880" cy="8046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274320" y="1060704"/>
            <a:ext cx="11658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55A11"/>
                </a:solidFill>
                <a:latin typeface="Arial"/>
              </a:rPr>
              <a:t>iTantra:</a:t>
            </a:r>
            <a:r>
              <a:rPr sz="1300" b="1">
                <a:solidFill>
                  <a:srgbClr val="262626"/>
                </a:solidFill>
                <a:latin typeface="Arial"/>
              </a:rPr>
              <a:t> any Android phone becomes an offline semantic transceiver — speech → on-device STT (10 Indian languages) → ~45-byte text over any surviving link → natural speech at the far end. </a:t>
            </a:r>
            <a:r>
              <a:rPr sz="1300" b="1">
                <a:solidFill>
                  <a:srgbClr val="C55A11"/>
                </a:solidFill>
                <a:latin typeface="Arial"/>
              </a:rPr>
              <a:t>Voice as text: 169× less than cellular voice, 889× less than raw.</a:t>
            </a:r>
          </a:p>
        </p:txBody>
      </p:sp>
      <p:pic>
        <p:nvPicPr>
          <p:cNvPr id="15363" name="Picture 15362" descr="pipeline-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682496"/>
            <a:ext cx="11338560" cy="1333603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411480" y="3090672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C55A11"/>
                </a:solidFill>
                <a:latin typeface="Arial"/>
              </a:rPr>
              <a:t>The app grades itself on stage — live CER · RTF · latency. Measured Hindi round-trip CER: 1.6%.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274320" y="3474720"/>
            <a:ext cx="7452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Arial"/>
              </a:rPr>
              <a:t>The Problem We Solve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1. </a:t>
            </a:r>
            <a:r>
              <a:rPr sz="1050" b="1">
                <a:solidFill>
                  <a:srgbClr val="262626"/>
                </a:solidFill>
                <a:latin typeface="Arial"/>
              </a:rPr>
              <a:t>Towers die in disasters: </a:t>
            </a:r>
            <a:r>
              <a:rPr sz="1050" b="0">
                <a:solidFill>
                  <a:srgbClr val="262626"/>
                </a:solidFill>
                <a:latin typeface="Arial"/>
              </a:rPr>
              <a:t>Amphan knocked out ~7,000 of 14,167 WB cell towers; 65–70% capacity for days (COAI).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2. </a:t>
            </a:r>
            <a:r>
              <a:rPr sz="1050" b="1">
                <a:solidFill>
                  <a:srgbClr val="262626"/>
                </a:solidFill>
                <a:latin typeface="Arial"/>
              </a:rPr>
              <a:t>Text alerts miss the vulnerable: </a:t>
            </a:r>
            <a:r>
              <a:rPr sz="1050" b="0">
                <a:solidFill>
                  <a:srgbClr val="262626"/>
                </a:solidFill>
                <a:latin typeface="Arial"/>
              </a:rPr>
              <a:t>rural female literacy ~50.6% — silent SMS under-reaches disaster-prone belts.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3. </a:t>
            </a:r>
            <a:r>
              <a:rPr sz="1050" b="1">
                <a:solidFill>
                  <a:srgbClr val="262626"/>
                </a:solidFill>
                <a:latin typeface="Arial"/>
              </a:rPr>
              <a:t>Language exclusion: </a:t>
            </a:r>
            <a:r>
              <a:rPr sz="1050" b="0">
                <a:solidFill>
                  <a:srgbClr val="262626"/>
                </a:solidFill>
                <a:latin typeface="Arial"/>
              </a:rPr>
              <a:t>~90% of rural India communicates only in its mother tongue (22 scheduled languages).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4. </a:t>
            </a:r>
            <a:r>
              <a:rPr sz="1050" b="1">
                <a:solidFill>
                  <a:srgbClr val="262626"/>
                </a:solidFill>
                <a:latin typeface="Arial"/>
              </a:rPr>
              <a:t>Voice is too heavy for weak links: </a:t>
            </a:r>
            <a:r>
              <a:rPr sz="1050" b="0">
                <a:solidFill>
                  <a:srgbClr val="262626"/>
                </a:solidFill>
                <a:latin typeface="Arial"/>
              </a:rPr>
              <a:t>raw voice is 64,000 bps; even NATO’s MELPe needs 600 bps.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7863840" y="3474720"/>
            <a:ext cx="3931920" cy="1298448"/>
          </a:xfrm>
          <a:prstGeom prst="roundRect">
            <a:avLst/>
          </a:prstGeom>
          <a:solidFill>
            <a:srgbClr val="FDF3EC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C55A11"/>
                </a:solidFill>
                <a:latin typeface="Arial"/>
              </a:rPr>
              <a:t>USP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1. </a:t>
            </a:r>
            <a:r>
              <a:rPr sz="1100" b="1">
                <a:solidFill>
                  <a:srgbClr val="262626"/>
                </a:solidFill>
                <a:latin typeface="Arial"/>
              </a:rPr>
              <a:t>Text is the codec — 169× less than cellular voice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2. </a:t>
            </a:r>
            <a:r>
              <a:rPr sz="1100" b="1">
                <a:solidFill>
                  <a:srgbClr val="262626"/>
                </a:solidFill>
                <a:latin typeface="Arial"/>
              </a:rPr>
              <a:t>VarnaCode — Indic compression at the entropy floor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274320" y="4828032"/>
            <a:ext cx="115214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Arial"/>
              </a:rPr>
              <a:t>How iTantra Solves It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1. </a:t>
            </a:r>
            <a:r>
              <a:rPr sz="1050" b="1">
                <a:solidFill>
                  <a:srgbClr val="262626"/>
                </a:solidFill>
                <a:latin typeface="Arial"/>
              </a:rPr>
              <a:t>On-device STT with pause-aware sentences: </a:t>
            </a:r>
            <a:r>
              <a:rPr sz="1050" b="0">
                <a:solidFill>
                  <a:srgbClr val="262626"/>
                </a:solidFill>
                <a:latin typeface="Arial"/>
              </a:rPr>
              <a:t>IndicConformer int8 (MIT) ×9 + Whisper English; Silero VAD streams sentences mid-hold — fully offline.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2. </a:t>
            </a:r>
            <a:r>
              <a:rPr sz="1050" b="1">
                <a:solidFill>
                  <a:srgbClr val="262626"/>
                </a:solidFill>
                <a:latin typeface="Arial"/>
              </a:rPr>
              <a:t>VarnaCode over any bearer: </a:t>
            </a:r>
            <a:r>
              <a:rPr sz="1050" b="0">
                <a:solidFill>
                  <a:srgbClr val="262626"/>
                </a:solidFill>
                <a:latin typeface="Arial"/>
              </a:rPr>
              <a:t>measured 4.45–5.36 bits/char (all 10 languages) — a sentence in ~45 B via Wi-Fi (NSD+TCP) · Bluetooth RFCOMM · ₹1,650 LoRa (km-range, IN865).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3. </a:t>
            </a:r>
            <a:r>
              <a:rPr sz="1050" b="1">
                <a:solidFill>
                  <a:srgbClr val="262626"/>
                </a:solidFill>
                <a:latin typeface="Arial"/>
              </a:rPr>
              <a:t>Natural voice out: </a:t>
            </a:r>
            <a:r>
              <a:rPr sz="1050" b="0">
                <a:solidFill>
                  <a:srgbClr val="262626"/>
                </a:solidFill>
                <a:latin typeface="Arial"/>
              </a:rPr>
              <a:t>AI4Bharat FastPitch + Piper TTS (MIT), sentence-streamed; eSpeak-NG fallback — never silent.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4. </a:t>
            </a:r>
            <a:r>
              <a:rPr sz="1050" b="1">
                <a:solidFill>
                  <a:srgbClr val="262626"/>
                </a:solidFill>
                <a:latin typeface="Arial"/>
              </a:rPr>
              <a:t>Alert mode: </a:t>
            </a:r>
            <a:r>
              <a:rPr sz="1050" b="0">
                <a:solidFill>
                  <a:srgbClr val="262626"/>
                </a:solidFill>
                <a:latin typeface="Arial"/>
              </a:rPr>
              <a:t>priority frames auto-play at max volume, non-interruptible, with a place-name pronunciation lexicon.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5. </a:t>
            </a:r>
            <a:r>
              <a:rPr sz="1050" b="1">
                <a:solidFill>
                  <a:srgbClr val="262626"/>
                </a:solidFill>
                <a:latin typeface="Arial"/>
              </a:rPr>
              <a:t>Walkie-talkie loop: </a:t>
            </a:r>
            <a:r>
              <a:rPr sz="1050" b="0">
                <a:solidFill>
                  <a:srgbClr val="262626"/>
                </a:solidFill>
                <a:latin typeface="Arial"/>
              </a:rPr>
              <a:t>two phones, push-to-talk: STT mode ↔ TTS mode; app off = normal phone (the PS verification loop).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256032" y="987552"/>
            <a:ext cx="52120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Technologies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Native Kotlin + Jetpack Compose; </a:t>
            </a:r>
            <a:r>
              <a:rPr sz="1100" b="0">
                <a:solidFill>
                  <a:srgbClr val="262626"/>
                </a:solidFill>
                <a:latin typeface="Arial"/>
              </a:rPr>
              <a:t>foreground service (mic type) + audio-focus discipline for Android 14+; APK 54 MB incl. full speech runtime.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sherpa-onnx v1.13.6 (Apache-2.0): </a:t>
            </a:r>
            <a:r>
              <a:rPr sz="1100" b="0">
                <a:solidFill>
                  <a:srgbClr val="262626"/>
                </a:solidFill>
                <a:latin typeface="Arial"/>
              </a:rPr>
              <a:t>one JNI surface for STT + TTS + VAD — 14.5k★, active.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STT: </a:t>
            </a:r>
            <a:r>
              <a:rPr sz="1100" b="0">
                <a:solidFill>
                  <a:srgbClr val="262626"/>
                </a:solidFill>
                <a:latin typeface="Arial"/>
              </a:rPr>
              <a:t>IndicConformer int8 ONNX (MIT) ×9 languages + whisper.cpp tiny for English.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TTS: </a:t>
            </a:r>
            <a:r>
              <a:rPr sz="1100" b="0">
                <a:solidFill>
                  <a:srgbClr val="262626"/>
                </a:solidFill>
                <a:latin typeface="Arial"/>
              </a:rPr>
              <a:t>Piper VITS ×6 + AI4Bharat FastPitch+HiFi-GAN ONNX ×4; eSpeak-NG fallback.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Silero VAD (~2 MB) </a:t>
            </a:r>
            <a:r>
              <a:rPr sz="1100" b="0">
                <a:solidFill>
                  <a:srgbClr val="262626"/>
                </a:solidFill>
                <a:latin typeface="Arial"/>
              </a:rPr>
              <a:t>sentence chunking · Oboe (AAudio) 16 kHz low-latency audio.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Transports: </a:t>
            </a:r>
            <a:r>
              <a:rPr sz="1100" b="0">
                <a:solidFill>
                  <a:srgbClr val="262626"/>
                </a:solidFill>
                <a:latin typeface="Arial"/>
              </a:rPr>
              <a:t>NSD/mDNS + TCP · Bluetooth RFCOMM · ESP32+SX127x LoRa (IN865, 1% duty).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Protocol: </a:t>
            </a:r>
            <a:r>
              <a:rPr sz="1100" b="0">
                <a:solidFill>
                  <a:srgbClr val="262626"/>
                </a:solidFill>
                <a:latin typeface="Arial"/>
              </a:rPr>
              <a:t>VarnaCode + iTantra Frame [lang · priority · seq · CRC-16] — bearer-agnostic, Kotlin↔Python byte-identical.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Compliance: </a:t>
            </a:r>
            <a:r>
              <a:rPr sz="1100" b="0">
                <a:solidFill>
                  <a:srgbClr val="262626"/>
                </a:solidFill>
                <a:latin typeface="Arial"/>
              </a:rPr>
              <a:t>100% open-source (NC/proprietary SDKs excluded) · zero network calls.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Methodology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P0 desktop twin measured first </a:t>
            </a:r>
            <a:r>
              <a:rPr sz="1100" b="0">
                <a:solidFill>
                  <a:srgbClr val="262626"/>
                </a:solidFill>
                <a:latin typeface="Arial"/>
              </a:rPr>
              <a:t>(CER · RTF · compression) → 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P1–P5: </a:t>
            </a:r>
            <a:r>
              <a:rPr sz="1100" b="0">
                <a:solidFill>
                  <a:srgbClr val="262626"/>
                </a:solidFill>
                <a:latin typeface="Arial"/>
              </a:rPr>
              <a:t>Android spine + Hindi loop → 10 languages + alerts → Evaluation Mode → LoRa bridge + AES-GCM.</a:t>
            </a:r>
          </a:p>
        </p:txBody>
      </p:sp>
      <p:pic>
        <p:nvPicPr>
          <p:cNvPr id="17411" name="Picture 1741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188720"/>
            <a:ext cx="5989320" cy="3083711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5669280" y="4480560"/>
            <a:ext cx="5989320" cy="141732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Measured, not estimated — desktop CPU, real models</a:t>
            </a:r>
          </a:p>
          <a:p>
            <a:pPr algn="ctr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STT RTF 0.055–0.119 · TTS RTF 0.049 · Hindi round-trip CER 1.6% / WER 7.1%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VarnaCode v1: 4.45–5.36 bits/char across all 10 languages · 154 protocol assertions green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Kotlin ↔ Python wire-compatible · Android APK builds &amp; tests 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543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1. On-device speed on budget phones</a:t>
            </a:r>
          </a:p>
          <a:p>
            <a:pPr>
              <a:lnSpc>
                <a:spcPct val="105000"/>
              </a:lnSpc>
              <a:spcAft>
                <a:spcPts val="25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200" b="0">
                <a:solidFill>
                  <a:srgbClr val="262626"/>
                </a:solidFill>
                <a:latin typeface="Arial"/>
              </a:rPr>
              <a:t>desktop/ARM-proxy RTF only; a budget phone may run tighter.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Arial"/>
              </a:rPr>
              <a:t>Approach: </a:t>
            </a:r>
            <a:r>
              <a:rPr sz="1200" b="0">
                <a:solidFill>
                  <a:srgbClr val="262626"/>
                </a:solidFill>
                <a:latin typeface="Arial"/>
              </a:rPr>
              <a:t>P0 measured RTF 0.049–0.119 (8–20× real-time headroom); int8 ladder + smaller voices + streaming-decode overlap if a budget phone runs tight. Edge Conformers already hit RTF 0.19.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2624328"/>
            <a:ext cx="7543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2. Community ONNX conversions</a:t>
            </a:r>
          </a:p>
          <a:p>
            <a:pPr>
              <a:lnSpc>
                <a:spcPct val="105000"/>
              </a:lnSpc>
              <a:spcAft>
                <a:spcPts val="25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200" b="0">
                <a:solidFill>
                  <a:srgbClr val="262626"/>
                </a:solidFill>
                <a:latin typeface="Arial"/>
              </a:rPr>
              <a:t>sherpa-onnx IndicConformer wrappers are community-made, not official k2-fsa artifacts.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Arial"/>
              </a:rPr>
              <a:t>Approach: </a:t>
            </a:r>
            <a:r>
              <a:rPr sz="1200" b="0">
                <a:solidFill>
                  <a:srgbClr val="262626"/>
                </a:solidFill>
                <a:latin typeface="Arial"/>
              </a:rPr>
              <a:t>Per-language QA budgeted; hard fallback = direct ONNX Runtime Mobile on AI4Bharat’s official int8 export — more glue, zero conversion risk.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4105656"/>
            <a:ext cx="7543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3. STT errors become spoken misinformation</a:t>
            </a:r>
          </a:p>
          <a:p>
            <a:pPr>
              <a:lnSpc>
                <a:spcPct val="105000"/>
              </a:lnSpc>
              <a:spcAft>
                <a:spcPts val="25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200" b="0">
                <a:solidFill>
                  <a:srgbClr val="262626"/>
                </a:solidFill>
                <a:latin typeface="Arial"/>
              </a:rPr>
              <a:t>a mis-recognition would be confidently re-spoken at the far end.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Arial"/>
              </a:rPr>
              <a:t>Approach: </a:t>
            </a:r>
            <a:r>
              <a:rPr sz="1200" b="0">
                <a:solidFill>
                  <a:srgbClr val="262626"/>
                </a:solidFill>
                <a:latin typeface="Arial"/>
              </a:rPr>
              <a:t>Confidence gate (“repeat that?”), transcript shown on both screens, and a pronunciation lexicon for the highest-stakes alert content.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5623560"/>
            <a:ext cx="7543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Arial"/>
              </a:rPr>
              <a:t>Also handled: </a:t>
            </a:r>
            <a:r>
              <a:rPr sz="1050" b="0">
                <a:solidFill>
                  <a:srgbClr val="262626"/>
                </a:solidFill>
                <a:latin typeface="Arial"/>
              </a:rPr>
              <a:t>Wi-Fi Direct flakiness (hotspot+NSD default, BT RFCOMM backup) · Android bg-audio policy (fg-service built first, compiling) · TTS export scope (4 languages, NVIDIA-Riva recipe, eSpeak-NG meanwhile).</a:t>
            </a:r>
          </a:p>
        </p:txBody>
      </p:sp>
      <p:pic>
        <p:nvPicPr>
          <p:cNvPr id="17414" name="Picture 17413" descr="feasibility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960120"/>
            <a:ext cx="3703320" cy="530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5623560" cy="2377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F3864"/>
                </a:solidFill>
                <a:latin typeface="Arial"/>
              </a:rPr>
              <a:t>Potential Impacts</a:t>
            </a:r>
          </a:p>
          <a:p>
            <a:pPr>
              <a:lnSpc>
                <a:spcPct val="103000"/>
              </a:lnSpc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• </a:t>
            </a:r>
            <a:r>
              <a:rPr sz="1050" b="1">
                <a:solidFill>
                  <a:srgbClr val="262626"/>
                </a:solidFill>
                <a:latin typeface="Arial"/>
              </a:rPr>
              <a:t>Last-mile inclusion: </a:t>
            </a:r>
            <a:r>
              <a:rPr sz="1050" b="0">
                <a:solidFill>
                  <a:srgbClr val="262626"/>
                </a:solidFill>
                <a:latin typeface="Arial"/>
              </a:rPr>
              <a:t>voice-native comms for the ~50% of rural women and 1-in-3 rural Indians whom text alerts miss — in their own language.</a:t>
            </a:r>
          </a:p>
          <a:p>
            <a:pPr>
              <a:lnSpc>
                <a:spcPct val="103000"/>
              </a:lnSpc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• </a:t>
            </a:r>
            <a:r>
              <a:rPr sz="1050" b="1">
                <a:solidFill>
                  <a:srgbClr val="262626"/>
                </a:solidFill>
                <a:latin typeface="Arial"/>
              </a:rPr>
              <a:t>Completes ISRO’s disaster stack: </a:t>
            </a:r>
            <a:r>
              <a:rPr sz="1050" b="0">
                <a:solidFill>
                  <a:srgbClr val="262626"/>
                </a:solidFill>
                <a:latin typeface="Arial"/>
              </a:rPr>
              <a:t>the multilingual voice layer for GSAT mobile-radio / VSAT–SDMA low-bitrate links.</a:t>
            </a:r>
          </a:p>
          <a:p>
            <a:pPr>
              <a:lnSpc>
                <a:spcPct val="103000"/>
              </a:lnSpc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• </a:t>
            </a:r>
            <a:r>
              <a:rPr sz="1050" b="1">
                <a:solidFill>
                  <a:srgbClr val="262626"/>
                </a:solidFill>
                <a:latin typeface="Arial"/>
              </a:rPr>
              <a:t>Resilience economics: </a:t>
            </a:r>
            <a:r>
              <a:rPr sz="1050" b="0">
                <a:solidFill>
                  <a:srgbClr val="262626"/>
                </a:solidFill>
                <a:latin typeface="Arial"/>
              </a:rPr>
              <a:t>phones + ₹1,650 LoRa node vs ₹8,000–25,000 hardware walkie-talkie pairs.</a:t>
            </a:r>
          </a:p>
          <a:p>
            <a:pPr>
              <a:lnSpc>
                <a:spcPct val="103000"/>
              </a:lnSpc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• </a:t>
            </a:r>
            <a:r>
              <a:rPr sz="1050" b="1">
                <a:solidFill>
                  <a:srgbClr val="262626"/>
                </a:solidFill>
                <a:latin typeface="Arial"/>
              </a:rPr>
              <a:t>Research → reality: </a:t>
            </a:r>
            <a:r>
              <a:rPr sz="1050" b="0">
                <a:solidFill>
                  <a:srgbClr val="262626"/>
                </a:solidFill>
                <a:latin typeface="Arial"/>
              </a:rPr>
              <a:t>a deployable Indian instance of 6G semantic communication.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6172200" y="932688"/>
            <a:ext cx="5715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4000" b="1">
                <a:solidFill>
                  <a:srgbClr val="C55A11"/>
                </a:solidFill>
                <a:latin typeface="Arial"/>
              </a:rPr>
              <a:t>45 bytes</a:t>
            </a:r>
            <a:r>
              <a:rPr sz="1600" b="1">
                <a:solidFill>
                  <a:srgbClr val="262626"/>
                </a:solidFill>
                <a:latin typeface="Arial"/>
              </a:rPr>
              <a:t>  = one spoken sentence</a:t>
            </a:r>
          </a:p>
          <a:p>
            <a:pPr algn="ctr"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Arial"/>
              </a:rPr>
              <a:t>vs 7,625 B cellular (AMR-NB) · 40,000 B raw voice (G.711)</a:t>
            </a:r>
          </a:p>
        </p:txBody>
      </p:sp>
      <p:pic>
        <p:nvPicPr>
          <p:cNvPr id="17412" name="Picture 17411" descr="chart-by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938528"/>
            <a:ext cx="5212080" cy="2842953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6172200" y="4873752"/>
            <a:ext cx="5715000" cy="1389888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Benefits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Social: </a:t>
            </a:r>
            <a:r>
              <a:rPr sz="1000" b="0">
                <a:solidFill>
                  <a:srgbClr val="262626"/>
                </a:solidFill>
                <a:latin typeface="Arial"/>
              </a:rPr>
              <a:t>literacy-independent · 10 languages ≈ 85%+ of India · voice + transcript serve both impairments.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Economic &amp; strategic: </a:t>
            </a:r>
            <a:r>
              <a:rPr sz="1000" b="0">
                <a:solidFill>
                  <a:srgbClr val="262626"/>
                </a:solidFill>
                <a:latin typeface="Arial"/>
              </a:rPr>
              <a:t>zero recurring cost (no SIM/server) · sovereign stack: Indian models, IN865 band, no foreign cloud.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Operational: </a:t>
            </a:r>
            <a:r>
              <a:rPr sz="1000" b="0">
                <a:solidFill>
                  <a:srgbClr val="262626"/>
                </a:solidFill>
                <a:latin typeface="Arial"/>
              </a:rPr>
              <a:t>int8-efficient; LoRa nodes run days on a power bank — solar-deployable in a blackout.</a:t>
            </a:r>
          </a:p>
        </p:txBody>
      </p:sp>
      <p:pic>
        <p:nvPicPr>
          <p:cNvPr id="17414" name="Picture 17413" descr="chart-bitsch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584448"/>
            <a:ext cx="5074920" cy="2768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005840"/>
            <a:ext cx="11475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1. </a:t>
            </a:r>
            <a:r>
              <a:rPr sz="1150" b="1">
                <a:solidFill>
                  <a:srgbClr val="C55A11"/>
                </a:solidFill>
                <a:latin typeface="Arial"/>
              </a:rPr>
              <a:t>Project repository: </a:t>
            </a:r>
            <a:r>
              <a:rPr sz="1150" b="0">
                <a:solidFill>
                  <a:srgbClr val="262626"/>
                </a:solidFill>
                <a:latin typeface="Arial"/>
              </a:rPr>
              <a:t>Kotlin app + evaluation harness + firmware — private; jury access on submission. </a:t>
            </a:r>
            <a:r>
              <a:rPr sz="1150" b="0">
                <a:solidFill>
                  <a:srgbClr val="0563C1"/>
                </a:solidFill>
                <a:latin typeface="Arial"/>
                <a:hlinkClick r:id="rId4"/>
              </a:rPr>
              <a:t>github.com/satyam-mishra-dev/itantra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2. </a:t>
            </a:r>
            <a:r>
              <a:rPr sz="1150" b="1">
                <a:solidFill>
                  <a:srgbClr val="C55A11"/>
                </a:solidFill>
                <a:latin typeface="Arial"/>
              </a:rPr>
              <a:t>Working demo: </a:t>
            </a:r>
            <a:r>
              <a:rPr sz="1150" b="0">
                <a:solidFill>
                  <a:srgbClr val="262626"/>
                </a:solidFill>
                <a:latin typeface="Arial"/>
              </a:rPr>
              <a:t>compiling APK + measured benchmark CSVs live in the repo; demo video added on submission. 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3. </a:t>
            </a:r>
            <a:r>
              <a:rPr sz="1150" b="1">
                <a:solidFill>
                  <a:srgbClr val="1F3864"/>
                </a:solidFill>
                <a:latin typeface="Arial"/>
              </a:rPr>
              <a:t>Cyclone Amphan outage: </a:t>
            </a:r>
            <a:r>
              <a:rPr sz="1150" b="0">
                <a:solidFill>
                  <a:srgbClr val="262626"/>
                </a:solidFill>
                <a:latin typeface="Arial"/>
              </a:rPr>
              <a:t>~7,000 of 14,167 WB towers down; networks at 65–70% capacity for days (COAI). </a:t>
            </a:r>
            <a:r>
              <a:rPr sz="1150" b="0">
                <a:solidFill>
                  <a:srgbClr val="0563C1"/>
                </a:solidFill>
                <a:latin typeface="Arial"/>
                <a:hlinkClick r:id="rId5"/>
              </a:rPr>
              <a:t>deccanherald.com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4. </a:t>
            </a:r>
            <a:r>
              <a:rPr sz="1150" b="1">
                <a:solidFill>
                  <a:srgbClr val="1F3864"/>
                </a:solidFill>
                <a:latin typeface="Arial"/>
              </a:rPr>
              <a:t>The bitrate math: </a:t>
            </a:r>
            <a:r>
              <a:rPr sz="1150" b="0">
                <a:solidFill>
                  <a:srgbClr val="262626"/>
                </a:solidFill>
                <a:latin typeface="Arial"/>
              </a:rPr>
              <a:t>MELPe 600 bps (NATO STANAG 4591) and Codec2 450 bps vs speech-as-text ≈ 107 bps. </a:t>
            </a:r>
            <a:r>
              <a:rPr sz="1150" b="0">
                <a:solidFill>
                  <a:srgbClr val="0563C1"/>
                </a:solidFill>
                <a:latin typeface="Arial"/>
                <a:hlinkClick r:id="rId6"/>
              </a:rPr>
              <a:t>melp.org · github.com/drowe67/codec2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5. </a:t>
            </a:r>
            <a:r>
              <a:rPr sz="1150" b="1">
                <a:solidFill>
                  <a:srgbClr val="1F3864"/>
                </a:solidFill>
                <a:latin typeface="Arial"/>
              </a:rPr>
              <a:t>Semantic communications (foundational survey): </a:t>
            </a:r>
            <a:r>
              <a:rPr sz="1150" b="0">
                <a:solidFill>
                  <a:srgbClr val="262626"/>
                </a:solidFill>
                <a:latin typeface="Arial"/>
              </a:rPr>
              <a:t>Qin, Tao, Lu, Tong &amp; Li, 2021. </a:t>
            </a:r>
            <a:r>
              <a:rPr sz="1150" b="0">
                <a:solidFill>
                  <a:srgbClr val="0563C1"/>
                </a:solidFill>
                <a:latin typeface="Arial"/>
                <a:hlinkClick r:id="rId7"/>
              </a:rPr>
              <a:t>arxiv.org/abs/2201.01389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6. </a:t>
            </a:r>
            <a:r>
              <a:rPr sz="1150" b="1">
                <a:solidFill>
                  <a:srgbClr val="1F3864"/>
                </a:solidFill>
                <a:latin typeface="Arial"/>
              </a:rPr>
              <a:t>DeepSC-ST: </a:t>
            </a:r>
            <a:r>
              <a:rPr sz="1150" b="0">
                <a:solidFill>
                  <a:srgbClr val="262626"/>
                </a:solidFill>
                <a:latin typeface="Arial"/>
              </a:rPr>
              <a:t>speech transceiver transmitting recognition-domain features, IEEE Trans. Wireless Comm. 2023. </a:t>
            </a:r>
            <a:r>
              <a:rPr sz="1150" b="0">
                <a:solidFill>
                  <a:srgbClr val="0563C1"/>
                </a:solidFill>
                <a:latin typeface="Arial"/>
                <a:hlinkClick r:id="rId8"/>
              </a:rPr>
              <a:t>doi.org/10.1109/TWC.2023.3240969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7. </a:t>
            </a:r>
            <a:r>
              <a:rPr sz="1150" b="1">
                <a:solidFill>
                  <a:srgbClr val="1F3864"/>
                </a:solidFill>
                <a:latin typeface="Arial"/>
              </a:rPr>
              <a:t>STT over low-data-rate networks: </a:t>
            </a:r>
            <a:r>
              <a:rPr sz="1150" b="0">
                <a:solidFill>
                  <a:srgbClr val="262626"/>
                </a:solidFill>
                <a:latin typeface="Arial"/>
              </a:rPr>
              <a:t>up to 94% latency reduction vs compressed audio (2025). </a:t>
            </a:r>
            <a:r>
              <a:rPr sz="1150" b="0">
                <a:solidFill>
                  <a:srgbClr val="0563C1"/>
                </a:solidFill>
                <a:latin typeface="Arial"/>
                <a:hlinkClick r:id="rId9"/>
              </a:rPr>
              <a:t>researchgate.net/394380603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8. </a:t>
            </a:r>
            <a:r>
              <a:rPr sz="1150" b="1">
                <a:solidFill>
                  <a:srgbClr val="1F3864"/>
                </a:solidFill>
                <a:latin typeface="Arial"/>
              </a:rPr>
              <a:t>IndicConformer (AI4Bharat): </a:t>
            </a:r>
            <a:r>
              <a:rPr sz="1150" b="0">
                <a:solidFill>
                  <a:srgbClr val="262626"/>
                </a:solidFill>
                <a:latin typeface="Arial"/>
              </a:rPr>
              <a:t>MIT, all 22 Indian languages, official int8 ONNX; Hindi WER 13.2 (Vaani). </a:t>
            </a:r>
            <a:r>
              <a:rPr sz="1150" b="0">
                <a:solidFill>
                  <a:srgbClr val="0563C1"/>
                </a:solidFill>
                <a:latin typeface="Arial"/>
                <a:hlinkClick r:id="rId10"/>
              </a:rPr>
              <a:t>huggingface.co/ai4bharat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9. </a:t>
            </a:r>
            <a:r>
              <a:rPr sz="1150" b="1">
                <a:solidFill>
                  <a:srgbClr val="1F3864"/>
                </a:solidFill>
                <a:latin typeface="Arial"/>
              </a:rPr>
              <a:t>AI4Bharat Indic-TTS: </a:t>
            </a:r>
            <a:r>
              <a:rPr sz="1150" b="0">
                <a:solidFill>
                  <a:srgbClr val="262626"/>
                </a:solidFill>
                <a:latin typeface="Arial"/>
              </a:rPr>
              <a:t>FastPitch + HiFi-GAN, MIT, 13 Indic languages — beats prior open baselines. </a:t>
            </a:r>
            <a:r>
              <a:rPr sz="1150" b="0">
                <a:solidFill>
                  <a:srgbClr val="0563C1"/>
                </a:solidFill>
                <a:latin typeface="Arial"/>
                <a:hlinkClick r:id="rId11"/>
              </a:rPr>
              <a:t>arxiv.org/abs/2211.09536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10. </a:t>
            </a:r>
            <a:r>
              <a:rPr sz="1150" b="1">
                <a:solidFill>
                  <a:srgbClr val="1F3864"/>
                </a:solidFill>
                <a:latin typeface="Arial"/>
              </a:rPr>
              <a:t>CER, not WER, for Indic ASR: </a:t>
            </a:r>
            <a:r>
              <a:rPr sz="1150" b="0">
                <a:solidFill>
                  <a:srgbClr val="262626"/>
                </a:solidFill>
                <a:latin typeface="Arial"/>
              </a:rPr>
              <a:t>WER disproportionately punishes agglutinative languages. </a:t>
            </a:r>
            <a:r>
              <a:rPr sz="1150" b="0">
                <a:solidFill>
                  <a:srgbClr val="0563C1"/>
                </a:solidFill>
                <a:latin typeface="Arial"/>
                <a:hlinkClick r:id="rId12"/>
              </a:rPr>
              <a:t>arxiv.org/abs/2203.16601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11. </a:t>
            </a:r>
            <a:r>
              <a:rPr sz="1150" b="1">
                <a:solidFill>
                  <a:srgbClr val="1F3864"/>
                </a:solidFill>
                <a:latin typeface="Arial"/>
              </a:rPr>
              <a:t>J-Alert (Japan): </a:t>
            </a:r>
            <a:r>
              <a:rPr sz="1150" b="0">
                <a:solidFill>
                  <a:srgbClr val="262626"/>
                </a:solidFill>
                <a:latin typeface="Arial"/>
              </a:rPr>
              <a:t>national disaster alerts spoken by TTS in 5 languages, validated at national scale. </a:t>
            </a:r>
            <a:r>
              <a:rPr sz="1150" b="0">
                <a:solidFill>
                  <a:srgbClr val="0563C1"/>
                </a:solidFill>
                <a:latin typeface="Arial"/>
                <a:hlinkClick r:id="rId13"/>
              </a:rPr>
              <a:t>wikipedia.org/wiki/J-Alert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12. </a:t>
            </a:r>
            <a:r>
              <a:rPr sz="1150" b="1">
                <a:solidFill>
                  <a:srgbClr val="1F3864"/>
                </a:solidFill>
                <a:latin typeface="Arial"/>
              </a:rPr>
              <a:t>IN865 LoRa legality: </a:t>
            </a:r>
            <a:r>
              <a:rPr sz="1150" b="0">
                <a:solidFill>
                  <a:srgbClr val="262626"/>
                </a:solidFill>
                <a:latin typeface="Arial"/>
              </a:rPr>
              <a:t>865–867 MHz license-free, 1% duty, 30 dBm — km-range at ₹1,650/node. </a:t>
            </a:r>
            <a:r>
              <a:rPr sz="1150" b="0">
                <a:solidFill>
                  <a:srgbClr val="0563C1"/>
                </a:solidFill>
                <a:latin typeface="Arial"/>
                <a:hlinkClick r:id="rId14"/>
              </a:rPr>
              <a:t>ensembletech.in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5541264"/>
            <a:ext cx="11475720" cy="658368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C55A11"/>
                </a:solidFill>
                <a:latin typeface="Arial"/>
              </a:rPr>
              <a:t>Already built: </a:t>
            </a:r>
            <a:r>
              <a:rPr sz="1150" b="1">
                <a:solidFill>
                  <a:srgbClr val="262626"/>
                </a:solidFill>
                <a:latin typeface="Arial"/>
              </a:rPr>
              <a:t>154 protocol assertions green · measured Hindi loop CER 1.6% · Android APK builds (54 MB incl. speech runtime) · Kotlin ↔ Python wire-compatibility proven on 30 test vectors.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