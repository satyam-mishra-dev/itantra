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deccanherald.com/india/cyclone-amphan-telecom-networks-operating-at-65-70-capacity-in-affected-districts-says-coai-840844.html" TargetMode="External"/><Relationship Id="rId5" Type="http://schemas.openxmlformats.org/officeDocument/2006/relationships/hyperlink" Target="https://github.com/drowe67/codec2" TargetMode="External"/><Relationship Id="rId6" Type="http://schemas.openxmlformats.org/officeDocument/2006/relationships/hyperlink" Target="https://arxiv.org/abs/2201.01389" TargetMode="External"/><Relationship Id="rId7" Type="http://schemas.openxmlformats.org/officeDocument/2006/relationships/hyperlink" Target="https://doi.org/10.1109/TWC.2023.3240969" TargetMode="External"/><Relationship Id="rId8" Type="http://schemas.openxmlformats.org/officeDocument/2006/relationships/hyperlink" Target="https://www.researchgate.net/publication/394380603_Voice_over_Low_Data_Rate_Networks_Using_Speech-to-Text_and_Semantic_Compression" TargetMode="External"/><Relationship Id="rId9" Type="http://schemas.openxmlformats.org/officeDocument/2006/relationships/hyperlink" Target="https://huggingface.co/ai4bharat/indic-conformer-600m-multilingual" TargetMode="External"/><Relationship Id="rId10" Type="http://schemas.openxmlformats.org/officeDocument/2006/relationships/hyperlink" Target="https://arxiv.org/abs/2211.09536" TargetMode="External"/><Relationship Id="rId11" Type="http://schemas.openxmlformats.org/officeDocument/2006/relationships/hyperlink" Target="https://arxiv.org/abs/2203.16601" TargetMode="External"/><Relationship Id="rId12" Type="http://schemas.openxmlformats.org/officeDocument/2006/relationships/hyperlink" Target="https://en.wikipedia.org/wiki/J-Alert" TargetMode="External"/><Relationship Id="rId13" Type="http://schemas.openxmlformats.org/officeDocument/2006/relationships/hyperlink" Target="https://www.ensembletech.in/lora-frequency-bands-indi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262626"/>
                </a:solidFill>
                <a:latin typeface="Arial"/>
              </a:rPr>
              <a:t>Problem Statement ID – </a:t>
            </a:r>
            <a:r>
              <a:rPr sz="2200" b="0">
                <a:solidFill>
                  <a:srgbClr val="262626"/>
                </a:solidFill>
                <a:latin typeface="Arial"/>
              </a:rPr>
              <a:t>SIH26173</a:t>
            </a:r>
            <a:endParaRPr lang="en-US" dirty="0"/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262626"/>
                </a:solidFill>
                <a:latin typeface="Arial"/>
              </a:rPr>
              <a:t>Problem Statement Title- </a:t>
            </a:r>
            <a:r>
              <a:rPr sz="1700" b="0">
                <a:solidFill>
                  <a:srgbClr val="262626"/>
                </a:solidFill>
                <a:latin typeface="Arial"/>
              </a:rPr>
              <a:t>iTantra – Indian Multilingual TTS &amp; STT Aided Neural Transceiver Radio Access for low bitrate links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262626"/>
                </a:solidFill>
                <a:latin typeface="Arial"/>
              </a:rPr>
              <a:t>Theme- </a:t>
            </a:r>
            <a:r>
              <a:rPr sz="2200" b="0">
                <a:solidFill>
                  <a:srgbClr val="262626"/>
                </a:solidFill>
                <a:latin typeface="Arial"/>
              </a:rPr>
              <a:t>Disaster Management / Miscellaneous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262626"/>
                </a:solidFill>
                <a:latin typeface="Arial"/>
              </a:rPr>
              <a:t>PS Category- </a:t>
            </a:r>
            <a:r>
              <a:rPr sz="2200" b="0">
                <a:solidFill>
                  <a:srgbClr val="262626"/>
                </a:solidFill>
                <a:latin typeface="Arial"/>
              </a:rPr>
              <a:t>Software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262626"/>
                </a:solidFill>
                <a:latin typeface="Arial"/>
              </a:rPr>
              <a:t>Team ID- </a:t>
            </a:r>
            <a:r>
              <a:rPr sz="2200" b="0">
                <a:solidFill>
                  <a:srgbClr val="262626"/>
                </a:solidFill>
                <a:latin typeface="Arial"/>
              </a:rPr>
              <a:t>______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1">
                <a:solidFill>
                  <a:srgbClr val="262626"/>
                </a:solidFill>
                <a:latin typeface="Arial"/>
              </a:rPr>
              <a:t>Team Name- </a:t>
            </a:r>
            <a:r>
              <a:rPr sz="2200" b="0">
                <a:solidFill>
                  <a:srgbClr val="262626"/>
                </a:solidFill>
                <a:latin typeface="Arial"/>
              </a:rPr>
              <a:t>Null Pointers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274320" y="1005840"/>
            <a:ext cx="11658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55A11"/>
                </a:solidFill>
                <a:latin typeface="Arial"/>
              </a:rPr>
              <a:t>iTantra</a:t>
            </a:r>
            <a:r>
              <a:rPr sz="1300" b="1">
                <a:solidFill>
                  <a:srgbClr val="262626"/>
                </a:solidFill>
                <a:latin typeface="Arial"/>
              </a:rPr>
              <a:t> turns any Android phone into an offline semantic transceiver: speech → on-device STT (10 Indian languages) → ~45-byte compressed text over any surviving link → natural speech at the far end. </a:t>
            </a:r>
            <a:r>
              <a:rPr sz="1300" b="1">
                <a:solidFill>
                  <a:srgbClr val="1F3864"/>
                </a:solidFill>
                <a:latin typeface="Arial"/>
              </a:rPr>
              <a:t>Voice that travels as text — 100–600× less bandwidth than any voice codec.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274320" y="1783080"/>
            <a:ext cx="76352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The Problem We Solve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Towers die in disasters: </a:t>
            </a:r>
            <a:r>
              <a:rPr sz="1050" b="0">
                <a:solidFill>
                  <a:srgbClr val="262626"/>
                </a:solidFill>
                <a:latin typeface="Arial"/>
              </a:rPr>
              <a:t>Cyclone Amphan knocked out ~7,000 of 14,167 WB cell towers; networks ran at 65–70% for days (COAI).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Text alerts miss the vulnerable: </a:t>
            </a:r>
            <a:r>
              <a:rPr sz="1050" b="0">
                <a:solidFill>
                  <a:srgbClr val="262626"/>
                </a:solidFill>
                <a:latin typeface="Arial"/>
              </a:rPr>
              <a:t>rural literacy 67.8% (female ~50.6%) — SMS structurally under-reaches disaster-prone belts.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Language exclusion: </a:t>
            </a:r>
            <a:r>
              <a:rPr sz="1050" b="0">
                <a:solidFill>
                  <a:srgbClr val="262626"/>
                </a:solidFill>
                <a:latin typeface="Arial"/>
              </a:rPr>
              <a:t>~90% of rural India communicates only in its mother tongue, across 22 scheduled languages.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Voice is too heavy for weak links: </a:t>
            </a:r>
            <a:r>
              <a:rPr sz="1050" b="0">
                <a:solidFill>
                  <a:srgbClr val="262626"/>
                </a:solidFill>
                <a:latin typeface="Arial"/>
              </a:rPr>
              <a:t>raw voice is 64,000 bps; even NATO’s MELPe codec needs 600 bps — nothing survives a dying channel.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How iTantra Solves It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On-device STT: </a:t>
            </a:r>
            <a:r>
              <a:rPr sz="1050" b="0">
                <a:solidFill>
                  <a:srgbClr val="262626"/>
                </a:solidFill>
                <a:latin typeface="Arial"/>
              </a:rPr>
              <a:t>AI4Bharat IndicConformer (int8 ONNX, MIT) — 9 Indic languages + Whisper English; fully offline.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Pause-aware sentences: </a:t>
            </a:r>
            <a:r>
              <a:rPr sz="1050" b="0">
                <a:solidFill>
                  <a:srgbClr val="262626"/>
                </a:solidFill>
                <a:latin typeface="Arial"/>
              </a:rPr>
              <a:t>Silero VAD segments speech into sentences during the PTT hold, streamed as they form.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Text, not waveform: </a:t>
            </a:r>
            <a:r>
              <a:rPr sz="1050" b="0">
                <a:solidFill>
                  <a:srgbClr val="262626"/>
                </a:solidFill>
                <a:latin typeface="Arial"/>
              </a:rPr>
              <a:t>the speech content is ~107 bps as text — under Codec2’s 450 bps floor.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VarnaCode: </a:t>
            </a:r>
            <a:r>
              <a:rPr sz="1050" b="0">
                <a:solidFill>
                  <a:srgbClr val="262626"/>
                </a:solidFill>
                <a:latin typeface="Arial"/>
              </a:rPr>
              <a:t>Indic-script entropy coding ~5–6 bits/char vs UTF-8’s 24 → a sentence in ~45 bytes = one LoRa frame.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5. </a:t>
            </a:r>
            <a:r>
              <a:rPr sz="1050" b="1">
                <a:solidFill>
                  <a:srgbClr val="262626"/>
                </a:solidFill>
                <a:latin typeface="Arial"/>
              </a:rPr>
              <a:t>Natural voice out: </a:t>
            </a:r>
            <a:r>
              <a:rPr sz="1050" b="0">
                <a:solidFill>
                  <a:srgbClr val="262626"/>
                </a:solidFill>
                <a:latin typeface="Arial"/>
              </a:rPr>
              <a:t>AI4Bharat FastPitch + Piper TTS (MIT), sentence-streamed; eSpeak-NG fallback — never silent.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6. </a:t>
            </a:r>
            <a:r>
              <a:rPr sz="1050" b="1">
                <a:solidFill>
                  <a:srgbClr val="262626"/>
                </a:solidFill>
                <a:latin typeface="Arial"/>
              </a:rPr>
              <a:t>Alert mode: </a:t>
            </a:r>
            <a:r>
              <a:rPr sz="1050" b="0">
                <a:solidFill>
                  <a:srgbClr val="262626"/>
                </a:solidFill>
                <a:latin typeface="Arial"/>
              </a:rPr>
              <a:t>priority frames auto-play at max volume, non-interruptible, with a place-name pronunciation lexicon.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7. </a:t>
            </a:r>
            <a:r>
              <a:rPr sz="1050" b="1">
                <a:solidFill>
                  <a:srgbClr val="262626"/>
                </a:solidFill>
                <a:latin typeface="Arial"/>
              </a:rPr>
              <a:t>Walkie-talkie loop: </a:t>
            </a:r>
            <a:r>
              <a:rPr sz="1050" b="0">
                <a:solidFill>
                  <a:srgbClr val="262626"/>
                </a:solidFill>
                <a:latin typeface="Arial"/>
              </a:rPr>
              <a:t>two phones, push-to-talk: STT mode ↔ TTS mode; app off = normal phone (the PS verification loop).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8. </a:t>
            </a:r>
            <a:r>
              <a:rPr sz="1050" b="1">
                <a:solidFill>
                  <a:srgbClr val="262626"/>
                </a:solidFill>
                <a:latin typeface="Arial"/>
              </a:rPr>
              <a:t>Any bearer: </a:t>
            </a:r>
            <a:r>
              <a:rPr sz="1050" b="0">
                <a:solidFill>
                  <a:srgbClr val="262626"/>
                </a:solidFill>
                <a:latin typeface="Arial"/>
              </a:rPr>
              <a:t>Wi-Fi (NSD+TCP) · Bluetooth RFCOMM · ₹1,650 ESP32-LoRa bridge (km-range, IN865 license-free).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9. </a:t>
            </a:r>
            <a:r>
              <a:rPr sz="1050" b="1">
                <a:solidFill>
                  <a:srgbClr val="262626"/>
                </a:solidFill>
                <a:latin typeface="Arial"/>
              </a:rPr>
              <a:t>Live Evaluation Mode: </a:t>
            </a:r>
            <a:r>
              <a:rPr sz="1050" b="0">
                <a:solidFill>
                  <a:srgbClr val="262626"/>
                </a:solidFill>
                <a:latin typeface="Arial"/>
              </a:rPr>
              <a:t>the app measures its own CER/WER, RTF &amp; mouth-to-ear latency — the rubric, demoed live.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092440" y="1783080"/>
            <a:ext cx="3822191" cy="3977639"/>
          </a:xfrm>
          <a:prstGeom prst="roundRect">
            <a:avLst/>
          </a:prstGeom>
          <a:solidFill>
            <a:srgbClr val="FDF3E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C55A11"/>
                </a:solidFill>
                <a:latin typeface="Arial"/>
              </a:rPr>
              <a:t>USP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1. </a:t>
            </a:r>
            <a:r>
              <a:rPr sz="1100" b="1">
                <a:solidFill>
                  <a:srgbClr val="262626"/>
                </a:solidFill>
                <a:latin typeface="Arial"/>
              </a:rPr>
              <a:t>Text is the codec — 100–600× below any voice codec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2. </a:t>
            </a:r>
            <a:r>
              <a:rPr sz="1100" b="1">
                <a:solidFill>
                  <a:srgbClr val="262626"/>
                </a:solidFill>
                <a:latin typeface="Arial"/>
              </a:rPr>
              <a:t>VarnaCode — compression built for Indic scripts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3. </a:t>
            </a:r>
            <a:r>
              <a:rPr sz="1100" b="1">
                <a:solidFill>
                  <a:srgbClr val="262626"/>
                </a:solidFill>
                <a:latin typeface="Arial"/>
              </a:rPr>
              <a:t>Live Evaluation Mode — rubric measured on stage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4. </a:t>
            </a:r>
            <a:r>
              <a:rPr sz="1100" b="1">
                <a:solidFill>
                  <a:srgbClr val="262626"/>
                </a:solidFill>
                <a:latin typeface="Arial"/>
              </a:rPr>
              <a:t>₹1,650 LoRa bridge — the low-bitrate link, physical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5. </a:t>
            </a:r>
            <a:r>
              <a:rPr sz="1100" b="1">
                <a:solidFill>
                  <a:srgbClr val="262626"/>
                </a:solidFill>
                <a:latin typeface="Arial"/>
              </a:rPr>
              <a:t>100% offline, Bhashini-lineage open models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256032" y="1024128"/>
            <a:ext cx="48006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Technologies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Native Kotlin + Jetpack Compose; </a:t>
            </a:r>
            <a:r>
              <a:rPr sz="1000" b="0">
                <a:solidFill>
                  <a:srgbClr val="262626"/>
                </a:solidFill>
                <a:latin typeface="Arial"/>
              </a:rPr>
              <a:t>foreground service (mic type) + audio-focus discipline built for Android 14+.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sherpa-onnx (Apache-2.0): </a:t>
            </a:r>
            <a:r>
              <a:rPr sz="1000" b="0">
                <a:solidFill>
                  <a:srgbClr val="262626"/>
                </a:solidFill>
                <a:latin typeface="Arial"/>
              </a:rPr>
              <a:t>one JNI surface for STT + TTS + VAD — 14.5k★, active.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STT: </a:t>
            </a:r>
            <a:r>
              <a:rPr sz="1000" b="0">
                <a:solidFill>
                  <a:srgbClr val="262626"/>
                </a:solidFill>
                <a:latin typeface="Arial"/>
              </a:rPr>
              <a:t>IndicConformer int8 ONNX (MIT) ×9 languages + whisper.cpp tiny for English.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TTS: </a:t>
            </a:r>
            <a:r>
              <a:rPr sz="1000" b="0">
                <a:solidFill>
                  <a:srgbClr val="262626"/>
                </a:solidFill>
                <a:latin typeface="Arial"/>
              </a:rPr>
              <a:t>Piper VITS ×6 + AI4Bharat FastPitch+HiFi-GAN ONNX ×4; eSpeak-NG fallback.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Silero VAD (~2 MB) </a:t>
            </a:r>
            <a:r>
              <a:rPr sz="1000" b="0">
                <a:solidFill>
                  <a:srgbClr val="262626"/>
                </a:solidFill>
                <a:latin typeface="Arial"/>
              </a:rPr>
              <a:t>sentence chunking; Oboe (AAudio) 16 kHz low-latency audio.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Transports: </a:t>
            </a:r>
            <a:r>
              <a:rPr sz="1000" b="0">
                <a:solidFill>
                  <a:srgbClr val="262626"/>
                </a:solidFill>
                <a:latin typeface="Arial"/>
              </a:rPr>
              <a:t>NSD/mDNS + TCP · Bluetooth RFCOMM · ESP32+SX127x LoRa (IN865, 1% duty).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Protocol: </a:t>
            </a:r>
            <a:r>
              <a:rPr sz="1000" b="0">
                <a:solidFill>
                  <a:srgbClr val="262626"/>
                </a:solidFill>
                <a:latin typeface="Arial"/>
              </a:rPr>
              <a:t>VarnaCode coder + iTantra Frame [lang | priority | seq | CRC-16] — bearer-agnostic.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Compliance: </a:t>
            </a:r>
            <a:r>
              <a:rPr sz="1000" b="0">
                <a:solidFill>
                  <a:srgbClr val="262626"/>
                </a:solidFill>
                <a:latin typeface="Arial"/>
              </a:rPr>
              <a:t>100% open-source (NC/proprietary SDKs excluded) · zero network calls.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Methodology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P0 desktop twin: </a:t>
            </a:r>
            <a:r>
              <a:rPr sz="1000" b="0">
                <a:solidFill>
                  <a:srgbClr val="262626"/>
                </a:solidFill>
                <a:latin typeface="Arial"/>
              </a:rPr>
              <a:t>same models on laptop — CER/RTF measured before any Android code; int8 ladder if tight.</a:t>
            </a:r>
          </a:p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P1→P5: </a:t>
            </a:r>
            <a:r>
              <a:rPr sz="1000" b="0">
                <a:solidFill>
                  <a:srgbClr val="262626"/>
                </a:solidFill>
                <a:latin typeface="Arial"/>
              </a:rPr>
              <a:t>Android spine + Hindi loop → 10 languages + alerts → Evaluation Mode → LoRa bridge + AES-GCM hardening.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257800" y="100584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Arial"/>
              </a:rPr>
              <a:t>iTantra Pipeline — offline end-to-end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285232" y="1389888"/>
            <a:ext cx="1389888" cy="713232"/>
          </a:xfrm>
          <a:prstGeom prst="roundRect">
            <a:avLst/>
          </a:prstGeom>
          <a:solidFill>
            <a:srgbClr val="D9E8F5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Mic
(Oboe 16 kHz)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6702552" y="1664208"/>
            <a:ext cx="256032" cy="164592"/>
          </a:xfrm>
          <a:prstGeom prst="righ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986016" y="1389888"/>
            <a:ext cx="1389888" cy="713232"/>
          </a:xfrm>
          <a:prstGeom prst="roundRect">
            <a:avLst/>
          </a:prstGeom>
          <a:solidFill>
            <a:srgbClr val="FDEBD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Silero VAD
sentence chunks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8403336" y="1664208"/>
            <a:ext cx="256032" cy="164592"/>
          </a:xfrm>
          <a:prstGeom prst="righ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8686800" y="1389888"/>
            <a:ext cx="1389888" cy="713232"/>
          </a:xfrm>
          <a:prstGeom prst="roundRect">
            <a:avLst/>
          </a:prstGeom>
          <a:solidFill>
            <a:srgbClr val="FDEBD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STT IndicConformer
int8 · 10 langs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10104119" y="1664208"/>
            <a:ext cx="256032" cy="164592"/>
          </a:xfrm>
          <a:prstGeom prst="righ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10387584" y="1389888"/>
            <a:ext cx="1389888" cy="713232"/>
          </a:xfrm>
          <a:prstGeom prst="roundRect">
            <a:avLst/>
          </a:prstGeom>
          <a:solidFill>
            <a:srgbClr val="E4F3E5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VarnaCode +
iTantra Frame</a:t>
            </a:r>
          </a:p>
        </p:txBody>
      </p:sp>
      <p:sp>
        <p:nvSpPr>
          <p:cNvPr id="17419" name="Down Arrow 17418"/>
          <p:cNvSpPr/>
          <p:nvPr/>
        </p:nvSpPr>
        <p:spPr>
          <a:xfrm>
            <a:off x="11000232" y="2148839"/>
            <a:ext cx="164592" cy="292608"/>
          </a:xfrm>
          <a:prstGeom prst="down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5285232" y="2487168"/>
            <a:ext cx="1389888" cy="713232"/>
          </a:xfrm>
          <a:prstGeom prst="roundRect">
            <a:avLst/>
          </a:prstGeom>
          <a:solidFill>
            <a:srgbClr val="D9E8F5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Speaker
voice-note out</a:t>
            </a:r>
          </a:p>
        </p:txBody>
      </p:sp>
      <p:sp>
        <p:nvSpPr>
          <p:cNvPr id="17421" name="Left Arrow 17420"/>
          <p:cNvSpPr/>
          <p:nvPr/>
        </p:nvSpPr>
        <p:spPr>
          <a:xfrm>
            <a:off x="6702552" y="2761488"/>
            <a:ext cx="256032" cy="164592"/>
          </a:xfrm>
          <a:prstGeom prst="lef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6986016" y="2487168"/>
            <a:ext cx="1389888" cy="713232"/>
          </a:xfrm>
          <a:prstGeom prst="roundRect">
            <a:avLst/>
          </a:prstGeom>
          <a:solidFill>
            <a:srgbClr val="FDEBD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TTS FastPitch/
Piper · streamed</a:t>
            </a:r>
          </a:p>
        </p:txBody>
      </p:sp>
      <p:sp>
        <p:nvSpPr>
          <p:cNvPr id="17423" name="Left Arrow 17422"/>
          <p:cNvSpPr/>
          <p:nvPr/>
        </p:nvSpPr>
        <p:spPr>
          <a:xfrm>
            <a:off x="8403336" y="2761488"/>
            <a:ext cx="256032" cy="164592"/>
          </a:xfrm>
          <a:prstGeom prst="lef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8686800" y="2487168"/>
            <a:ext cx="1389888" cy="713232"/>
          </a:xfrm>
          <a:prstGeom prst="roundRect">
            <a:avLst/>
          </a:prstGeom>
          <a:solidFill>
            <a:srgbClr val="E4F3E5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Decode + de-dup
VarnaCode⁻¹</a:t>
            </a:r>
          </a:p>
        </p:txBody>
      </p:sp>
      <p:sp>
        <p:nvSpPr>
          <p:cNvPr id="17425" name="Left Arrow 17424"/>
          <p:cNvSpPr/>
          <p:nvPr/>
        </p:nvSpPr>
        <p:spPr>
          <a:xfrm>
            <a:off x="10104119" y="2761488"/>
            <a:ext cx="256032" cy="164592"/>
          </a:xfrm>
          <a:prstGeom prst="left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10387584" y="2487168"/>
            <a:ext cx="1389888" cy="713232"/>
          </a:xfrm>
          <a:prstGeom prst="roundRect">
            <a:avLst/>
          </a:prstGeom>
          <a:solidFill>
            <a:srgbClr val="FFF6D6"/>
          </a:solidFill>
          <a:ln w="15875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Link: Wi-Fi · BT ·
LoRa ~45 B/sent.</a:t>
            </a:r>
          </a:p>
        </p:txBody>
      </p:sp>
      <p:sp>
        <p:nvSpPr>
          <p:cNvPr id="17427" name="Down Arrow 17426"/>
          <p:cNvSpPr/>
          <p:nvPr/>
        </p:nvSpPr>
        <p:spPr>
          <a:xfrm>
            <a:off x="7598664" y="3246120"/>
            <a:ext cx="164592" cy="274320"/>
          </a:xfrm>
          <a:prstGeom prst="downArrow">
            <a:avLst/>
          </a:prstGeom>
          <a:solidFill>
            <a:srgbClr val="AEB6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6220663" y="3547872"/>
            <a:ext cx="2651760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50" b="1">
                <a:solidFill>
                  <a:srgbClr val="262626"/>
                </a:solidFill>
                <a:latin typeface="Arial"/>
              </a:rPr>
              <a:t>ALERT frames → max volume, non-interruptible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257800" y="4224528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Arial"/>
              </a:rPr>
              <a:t>Proposed Tech Stack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285232" y="4553712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Kotlin + Compose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986016" y="4553712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sherpa-onnx (Apache-2.0)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686800" y="4553712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IndicConformer int8 (MIT)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0387584" y="4553712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Piper / FastPitch ONNX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5285232" y="5084064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Silero VAD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986016" y="5084064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Oboe low-latency audio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686800" y="5084064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NSD + BT RFCOMM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10387584" y="5084064"/>
            <a:ext cx="1609344" cy="420624"/>
          </a:xfrm>
          <a:prstGeom prst="roundRect">
            <a:avLst/>
          </a:prstGeom>
          <a:solidFill>
            <a:srgbClr val="F2F3F7"/>
          </a:solidFill>
          <a:ln w="15875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>
                <a:solidFill>
                  <a:srgbClr val="262626"/>
                </a:solidFill>
                <a:latin typeface="Arial"/>
              </a:rPr>
              <a:t>ESP32 LoRa · IN865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887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1. On-device speed unproven on budget phones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All RTF figures are ARM proxies (Pi-5 class).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P0 benchmarks on a real budget phone first; fallback ladder: int8 → smaller voices → streaming-decode overlap. Edge Conformers already hit RTF 0.19.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2889504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2. Community ONNX conversions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sherpa-onnx IndicConformer wrappers are community-made, not official.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Budgeted per-language QA; hard fallback = direct ONNX Runtime Mobile on AI4Bharat’s official int8 export.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4590288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3. TTS export for 4 languages is our own work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Gujarati, Kannada, Tamil, Odia have no ready ONNX voice.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Same FastPitch→ONNX recipe as NVIDIA Riva production; scoped to 4 languages; eSpeak-NG keeps every language audible meanwhile.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217920" y="11887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4. Wi-Fi Direct is OEM-flaky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Pairing silently fails on some skins — a demo-day risk.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Not on the critical path: hotspot + NSD + TCP is the default, Bluetooth RFCOMM the backup; Wi-Fi Direct demoted to stretch.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17920" y="2889504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5. Modern Android background-audio policy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Where every stale sample app dies (fg-service types, audio focus).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Built fresh and first in P1 from the current Android 14+ checklist — a known list, not a research problem.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217920" y="4590288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150" b="1">
                <a:solidFill>
                  <a:srgbClr val="1F3864"/>
                </a:solidFill>
                <a:latin typeface="Arial"/>
              </a:rPr>
              <a:t>6. STT errors become spoken misinformation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000" b="0">
                <a:solidFill>
                  <a:srgbClr val="262626"/>
                </a:solidFill>
                <a:latin typeface="Arial"/>
              </a:rPr>
              <a:t>A mis-recognition would be confidently re-spoken.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C55A11"/>
                </a:solidFill>
                <a:latin typeface="Arial"/>
              </a:rPr>
              <a:t>Approach: </a:t>
            </a:r>
            <a:r>
              <a:rPr sz="1000" b="0">
                <a:solidFill>
                  <a:srgbClr val="262626"/>
                </a:solidFill>
                <a:latin typeface="Arial"/>
              </a:rPr>
              <a:t>Confidence gate (“repeat that?”), transcript shown both ends, alert pronunciation lexicon for the highest-stakes content.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5715000" cy="48920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Potential Impacts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Last-mile inclusion: </a:t>
            </a:r>
            <a:r>
              <a:rPr sz="1100" b="0">
                <a:solidFill>
                  <a:srgbClr val="262626"/>
                </a:solidFill>
                <a:latin typeface="Arial"/>
              </a:rPr>
              <a:t>voice-native two-way comms reach the ~50% of rural women and 1-in-3 rural Indians whom text alerts structurally miss — in their own language, on phones they already own.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Completes ISRO’s disaster stack: </a:t>
            </a:r>
            <a:r>
              <a:rPr sz="1100" b="0">
                <a:solidFill>
                  <a:srgbClr val="262626"/>
                </a:solidFill>
                <a:latin typeface="Arial"/>
              </a:rPr>
              <a:t>the multilingual voice layer for GSAT mobile-radio and VSAT–SDMA low-bitrate links under the Disaster Management Support programme.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Resilience economics: </a:t>
            </a:r>
            <a:r>
              <a:rPr sz="1100" b="0">
                <a:solidFill>
                  <a:srgbClr val="262626"/>
                </a:solidFill>
                <a:latin typeface="Arial"/>
              </a:rPr>
              <a:t>existing phones + a ₹1,650 LoRa node replace ₹8,000–25,000 hardware walkie-talkie pairs for village disaster committees, fisherfolk co-ops, border communities.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Research → reality: </a:t>
            </a:r>
            <a:r>
              <a:rPr sz="1100" b="0">
                <a:solidFill>
                  <a:srgbClr val="262626"/>
                </a:solidFill>
                <a:latin typeface="Arial"/>
              </a:rPr>
              <a:t>a deployable Indian instance of 6G semantic communication — transmit the meaning, not the bits.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217920" y="1188720"/>
            <a:ext cx="5669280" cy="4892040"/>
          </a:xfrm>
          <a:prstGeom prst="roundRect">
            <a:avLst/>
          </a:prstGeom>
          <a:solidFill>
            <a:srgbClr val="FDF3EC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C55A11"/>
                </a:solidFill>
                <a:latin typeface="Arial"/>
              </a:rPr>
              <a:t>Benefits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Social: </a:t>
            </a:r>
            <a:r>
              <a:rPr sz="1100" b="0">
                <a:solidFill>
                  <a:srgbClr val="262626"/>
                </a:solidFill>
                <a:latin typeface="Arial"/>
              </a:rPr>
              <a:t>literacy-independent; 10 languages ≈ 85%+ of India’s population; the same message serves visually-impaired (voice) and hearing-impaired (transcript) users.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Economic: </a:t>
            </a:r>
            <a:r>
              <a:rPr sz="1100" b="0">
                <a:solidFill>
                  <a:srgbClr val="262626"/>
                </a:solidFill>
                <a:latin typeface="Arial"/>
              </a:rPr>
              <a:t>zero recurring cost — no SIM, no data plan, no server; open-source, so states and NGOs deploy without procurement lock-in.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Strategic: </a:t>
            </a:r>
            <a:r>
              <a:rPr sz="1100" b="0">
                <a:solidFill>
                  <a:srgbClr val="262626"/>
                </a:solidFill>
                <a:latin typeface="Arial"/>
              </a:rPr>
              <a:t>fully sovereign stack — Indian models (Bhashini / AI4Bharat lineage), Indian band plan (IN865), no foreign cloud dependency.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Environmental / operational: </a:t>
            </a:r>
            <a:r>
              <a:rPr sz="1100" b="0">
                <a:solidFill>
                  <a:srgbClr val="262626"/>
                </a:solidFill>
                <a:latin typeface="Arial"/>
              </a:rPr>
              <a:t>int8-efficient by design; LoRa nodes run for days on a power bank — deployable on solar in a total blackout.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51560"/>
            <a:ext cx="1147572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Cyclone Amphan outage: </a:t>
            </a:r>
            <a:r>
              <a:rPr sz="1050" b="0">
                <a:solidFill>
                  <a:srgbClr val="262626"/>
                </a:solidFill>
                <a:latin typeface="Arial"/>
              </a:rPr>
              <a:t>~7,000 of 14,167 WB towers down; networks at 65–70% capacity for days (COAI). </a:t>
            </a:r>
            <a:r>
              <a:rPr sz="1050" b="0">
                <a:solidFill>
                  <a:srgbClr val="0563C1"/>
                </a:solidFill>
                <a:latin typeface="Arial"/>
                <a:hlinkClick r:id="rId4"/>
              </a:rPr>
              <a:t>deccanherald.com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The bitrate math: </a:t>
            </a:r>
            <a:r>
              <a:rPr sz="1050" b="0">
                <a:solidFill>
                  <a:srgbClr val="262626"/>
                </a:solidFill>
                <a:latin typeface="Arial"/>
              </a:rPr>
              <a:t>MELPe 600 bps (NATO STANAG 4591) and Codec2 450 bps vs speech-as-text ≈ 107 bps. </a:t>
            </a:r>
            <a:r>
              <a:rPr sz="1050" b="0">
                <a:solidFill>
                  <a:srgbClr val="0563C1"/>
                </a:solidFill>
                <a:latin typeface="Arial"/>
                <a:hlinkClick r:id="rId5"/>
              </a:rPr>
              <a:t>melp.org · github.com/drowe67/codec2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Semantic communications (foundational survey): </a:t>
            </a:r>
            <a:r>
              <a:rPr sz="1050" b="0">
                <a:solidFill>
                  <a:srgbClr val="262626"/>
                </a:solidFill>
                <a:latin typeface="Arial"/>
              </a:rPr>
              <a:t>Qin, Tao, Lu, Tong &amp; Li, 2021. </a:t>
            </a:r>
            <a:r>
              <a:rPr sz="1050" b="0">
                <a:solidFill>
                  <a:srgbClr val="0563C1"/>
                </a:solidFill>
                <a:latin typeface="Arial"/>
                <a:hlinkClick r:id="rId6"/>
              </a:rPr>
              <a:t>arxiv.org/abs/2201.01389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DeepSC-ST: </a:t>
            </a:r>
            <a:r>
              <a:rPr sz="1050" b="0">
                <a:solidFill>
                  <a:srgbClr val="262626"/>
                </a:solidFill>
                <a:latin typeface="Arial"/>
              </a:rPr>
              <a:t>speech transceiver transmitting recognition-domain features, IEEE Trans. Wireless Comm. 2023. </a:t>
            </a:r>
            <a:r>
              <a:rPr sz="1050" b="0">
                <a:solidFill>
                  <a:srgbClr val="0563C1"/>
                </a:solidFill>
                <a:latin typeface="Arial"/>
                <a:hlinkClick r:id="rId7"/>
              </a:rPr>
              <a:t>doi.org/10.1109/TWC.2023.3240969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5. </a:t>
            </a:r>
            <a:r>
              <a:rPr sz="1050" b="1">
                <a:solidFill>
                  <a:srgbClr val="262626"/>
                </a:solidFill>
                <a:latin typeface="Arial"/>
              </a:rPr>
              <a:t>STT over low-data-rate networks: </a:t>
            </a:r>
            <a:r>
              <a:rPr sz="1050" b="0">
                <a:solidFill>
                  <a:srgbClr val="262626"/>
                </a:solidFill>
                <a:latin typeface="Arial"/>
              </a:rPr>
              <a:t>up to 94% latency reduction vs compressed audio (2025). </a:t>
            </a:r>
            <a:r>
              <a:rPr sz="1050" b="0">
                <a:solidFill>
                  <a:srgbClr val="0563C1"/>
                </a:solidFill>
                <a:latin typeface="Arial"/>
                <a:hlinkClick r:id="rId8"/>
              </a:rPr>
              <a:t>researchgate.net/394380603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6. </a:t>
            </a:r>
            <a:r>
              <a:rPr sz="1050" b="1">
                <a:solidFill>
                  <a:srgbClr val="262626"/>
                </a:solidFill>
                <a:latin typeface="Arial"/>
              </a:rPr>
              <a:t>IndicConformer (AI4Bharat): </a:t>
            </a:r>
            <a:r>
              <a:rPr sz="1050" b="0">
                <a:solidFill>
                  <a:srgbClr val="262626"/>
                </a:solidFill>
                <a:latin typeface="Arial"/>
              </a:rPr>
              <a:t>MIT license, all 22 Indian languages, official int8 ONNX export; Hindi WER 13.2 (Vaani). </a:t>
            </a:r>
            <a:r>
              <a:rPr sz="1050" b="0">
                <a:solidFill>
                  <a:srgbClr val="0563C1"/>
                </a:solidFill>
                <a:latin typeface="Arial"/>
                <a:hlinkClick r:id="rId9"/>
              </a:rPr>
              <a:t>huggingface.co/ai4bharat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7. </a:t>
            </a:r>
            <a:r>
              <a:rPr sz="1050" b="1">
                <a:solidFill>
                  <a:srgbClr val="262626"/>
                </a:solidFill>
                <a:latin typeface="Arial"/>
              </a:rPr>
              <a:t>AI4Bharat Indic-TTS: </a:t>
            </a:r>
            <a:r>
              <a:rPr sz="1050" b="0">
                <a:solidFill>
                  <a:srgbClr val="262626"/>
                </a:solidFill>
                <a:latin typeface="Arial"/>
              </a:rPr>
              <a:t>FastPitch + HiFi-GAN, MIT, 13 Indic languages — beats prior open baselines. </a:t>
            </a:r>
            <a:r>
              <a:rPr sz="1050" b="0">
                <a:solidFill>
                  <a:srgbClr val="0563C1"/>
                </a:solidFill>
                <a:latin typeface="Arial"/>
                <a:hlinkClick r:id="rId10"/>
              </a:rPr>
              <a:t>arxiv.org/abs/2211.09536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8. </a:t>
            </a:r>
            <a:r>
              <a:rPr sz="1050" b="1">
                <a:solidFill>
                  <a:srgbClr val="262626"/>
                </a:solidFill>
                <a:latin typeface="Arial"/>
              </a:rPr>
              <a:t>CER, not WER, for Indic ASR: </a:t>
            </a:r>
            <a:r>
              <a:rPr sz="1050" b="0">
                <a:solidFill>
                  <a:srgbClr val="262626"/>
                </a:solidFill>
                <a:latin typeface="Arial"/>
              </a:rPr>
              <a:t>WER disproportionately punishes agglutinative languages (Malayalam, Kannada, Telugu). </a:t>
            </a:r>
            <a:r>
              <a:rPr sz="1050" b="0">
                <a:solidFill>
                  <a:srgbClr val="0563C1"/>
                </a:solidFill>
                <a:latin typeface="Arial"/>
                <a:hlinkClick r:id="rId11"/>
              </a:rPr>
              <a:t>arxiv.org/abs/2203.16601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9. </a:t>
            </a:r>
            <a:r>
              <a:rPr sz="1050" b="1">
                <a:solidFill>
                  <a:srgbClr val="262626"/>
                </a:solidFill>
                <a:latin typeface="Arial"/>
              </a:rPr>
              <a:t>J-Alert (Japan): </a:t>
            </a:r>
            <a:r>
              <a:rPr sz="1050" b="0">
                <a:solidFill>
                  <a:srgbClr val="262626"/>
                </a:solidFill>
                <a:latin typeface="Arial"/>
              </a:rPr>
              <a:t>national disaster alerts spoken by TTS in 5 languages — the mechanism, validated at national scale. </a:t>
            </a:r>
            <a:r>
              <a:rPr sz="1050" b="0">
                <a:solidFill>
                  <a:srgbClr val="0563C1"/>
                </a:solidFill>
                <a:latin typeface="Arial"/>
                <a:hlinkClick r:id="rId12"/>
              </a:rPr>
              <a:t>wikipedia.org/wiki/J-Alert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10. </a:t>
            </a:r>
            <a:r>
              <a:rPr sz="1050" b="1">
                <a:solidFill>
                  <a:srgbClr val="262626"/>
                </a:solidFill>
                <a:latin typeface="Arial"/>
              </a:rPr>
              <a:t>IN865 LoRa legality: </a:t>
            </a:r>
            <a:r>
              <a:rPr sz="1050" b="0">
                <a:solidFill>
                  <a:srgbClr val="262626"/>
                </a:solidFill>
                <a:latin typeface="Arial"/>
              </a:rPr>
              <a:t>865–867 MHz license-free, 1% duty cycle, 30 dBm ERP — km-range at ₹1,650/node. </a:t>
            </a:r>
            <a:r>
              <a:rPr sz="1050" b="0">
                <a:solidFill>
                  <a:srgbClr val="0563C1"/>
                </a:solidFill>
                <a:latin typeface="Arial"/>
                <a:hlinkClick r:id="rId13"/>
              </a:rPr>
              <a:t>ensembletech.in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11. </a:t>
            </a:r>
            <a:r>
              <a:rPr sz="1050" b="1">
                <a:solidFill>
                  <a:srgbClr val="262626"/>
                </a:solidFill>
                <a:latin typeface="Arial"/>
              </a:rPr>
              <a:t>Project repository: </a:t>
            </a:r>
            <a:r>
              <a:rPr sz="1050" b="0">
                <a:solidFill>
                  <a:srgbClr val="262626"/>
                </a:solidFill>
                <a:latin typeface="Arial"/>
              </a:rPr>
              <a:t>app + ESP32 firmware + evaluation harness + license audit (link added on submission).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